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c:v>
                </c:pt>
              </c:strCache>
            </c:strRef>
          </c:tx>
          <c:spPr>
            <a:ln w="31750" cap="flat">
              <a:solidFill>
                <a:srgbClr val="3B6EA5"/>
              </a:solidFill>
              <a:prstDash val="solid"/>
              <a:round/>
            </a:ln>
            <a:effectLst/>
          </c:spPr>
          <c:marker>
            <c:symbol val="circle"/>
            <c:size val="6"/>
            <c:spPr>
              <a:solidFill>
                <a:srgbClr val="3B6EA5"/>
              </a:solidFill>
              <a:ln w="9525" cap="flat">
                <a:solidFill>
                  <a:srgbClr val="3B6EA5"/>
                </a:solidFill>
                <a:prstDash val="solid"/>
                <a:round/>
              </a:ln>
              <a:effectLst/>
            </c:spPr>
          </c:marker>
          <c:cat>
            <c:strRef>
              <c:f>Sheet1!$A$2:$A$14</c:f>
              <c:strCache>
                <c:ptCount val="13"/>
                <c:pt idx="0">
                  <c:v>Dec</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Sheet1!$B$2:$B$14</c:f>
              <c:numCache>
                <c:formatCode>General</c:formatCode>
                <c:ptCount val="13"/>
                <c:pt idx="0">
                  <c:v>62</c:v>
                </c:pt>
                <c:pt idx="1">
                  <c:v>38</c:v>
                </c:pt>
                <c:pt idx="2">
                  <c:v>33</c:v>
                </c:pt>
                <c:pt idx="3">
                  <c:v>36</c:v>
                </c:pt>
                <c:pt idx="4">
                  <c:v>41</c:v>
                </c:pt>
                <c:pt idx="5">
                  <c:v>40</c:v>
                </c:pt>
                <c:pt idx="6">
                  <c:v>37</c:v>
                </c:pt>
                <c:pt idx="7">
                  <c:v>39</c:v>
                </c:pt>
                <c:pt idx="8">
                  <c:v>35</c:v>
                </c:pt>
                <c:pt idx="9">
                  <c:v>44</c:v>
                </c:pt>
                <c:pt idx="10">
                  <c:v>52</c:v>
                </c:pt>
                <c:pt idx="11">
                  <c:v>68</c:v>
                </c:pt>
                <c:pt idx="12">
                  <c:v>74</c:v>
                </c:pt>
              </c:numCache>
            </c:numRef>
          </c:val>
          <c:smooth val="1"/>
          <c:extLst>
            <c:ext xmlns:c16="http://schemas.microsoft.com/office/drawing/2014/chart" uri="{C3380CC4-5D6E-409C-BE32-E72D297353CC}">
              <c16:uniqueId val="{00000000-4519-4CEB-B946-8404564213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3B6EA5"/>
            </a:solidFill>
            <a:effectLst/>
          </c:spPr>
          <c:invertIfNegative val="0"/>
          <c:cat>
            <c:strRef>
              <c:f>Sheet1!$A$2:$A$6</c:f>
              <c:strCache>
                <c:ptCount val="5"/>
                <c:pt idx="0">
                  <c:v>Accuracy</c:v>
                </c:pt>
                <c:pt idx="1">
                  <c:v>Precision</c:v>
                </c:pt>
                <c:pt idx="2">
                  <c:v>Recall</c:v>
                </c:pt>
                <c:pt idx="3">
                  <c:v>F1</c:v>
                </c:pt>
                <c:pt idx="4">
                  <c:v>ROC-AUC</c:v>
                </c:pt>
              </c:strCache>
            </c:strRef>
          </c:cat>
          <c:val>
            <c:numRef>
              <c:f>Sheet1!$B$2:$B$6</c:f>
              <c:numCache>
                <c:formatCode>General</c:formatCode>
                <c:ptCount val="5"/>
                <c:pt idx="0">
                  <c:v>72.75</c:v>
                </c:pt>
                <c:pt idx="1">
                  <c:v>60.91</c:v>
                </c:pt>
                <c:pt idx="2">
                  <c:v>50.68</c:v>
                </c:pt>
                <c:pt idx="3">
                  <c:v>55.33</c:v>
                </c:pt>
                <c:pt idx="4">
                  <c:v>76.959999999999994</c:v>
                </c:pt>
              </c:numCache>
            </c:numRef>
          </c:val>
          <c:extLst>
            <c:ext xmlns:c16="http://schemas.microsoft.com/office/drawing/2014/chart" uri="{C3380CC4-5D6E-409C-BE32-E72D297353CC}">
              <c16:uniqueId val="{00000000-845C-4C47-B64B-78B699F990A5}"/>
            </c:ext>
          </c:extLst>
        </c:ser>
        <c:ser>
          <c:idx val="1"/>
          <c:order val="1"/>
          <c:tx>
            <c:strRef>
              <c:f>Sheet1!$C$1</c:f>
              <c:strCache>
                <c:ptCount val="1"/>
                <c:pt idx="0">
                  <c:v>Tuned Random Forest</c:v>
                </c:pt>
              </c:strCache>
            </c:strRef>
          </c:tx>
          <c:spPr>
            <a:solidFill>
              <a:srgbClr val="E76F51"/>
            </a:solidFill>
            <a:effectLst/>
          </c:spPr>
          <c:invertIfNegative val="0"/>
          <c:cat>
            <c:strRef>
              <c:f>Sheet1!$A$2:$A$6</c:f>
              <c:strCache>
                <c:ptCount val="5"/>
                <c:pt idx="0">
                  <c:v>Accuracy</c:v>
                </c:pt>
                <c:pt idx="1">
                  <c:v>Precision</c:v>
                </c:pt>
                <c:pt idx="2">
                  <c:v>Recall</c:v>
                </c:pt>
                <c:pt idx="3">
                  <c:v>F1</c:v>
                </c:pt>
                <c:pt idx="4">
                  <c:v>ROC-AUC</c:v>
                </c:pt>
              </c:strCache>
            </c:strRef>
          </c:cat>
          <c:val>
            <c:numRef>
              <c:f>Sheet1!$C$2:$C$6</c:f>
              <c:numCache>
                <c:formatCode>General</c:formatCode>
                <c:ptCount val="5"/>
                <c:pt idx="0">
                  <c:v>72.290000000000006</c:v>
                </c:pt>
                <c:pt idx="1">
                  <c:v>58.66</c:v>
                </c:pt>
                <c:pt idx="2">
                  <c:v>56.85</c:v>
                </c:pt>
                <c:pt idx="3">
                  <c:v>57.74</c:v>
                </c:pt>
                <c:pt idx="4">
                  <c:v>76.94</c:v>
                </c:pt>
              </c:numCache>
            </c:numRef>
          </c:val>
          <c:extLst>
            <c:ext xmlns:c16="http://schemas.microsoft.com/office/drawing/2014/chart" uri="{C3380CC4-5D6E-409C-BE32-E72D297353CC}">
              <c16:uniqueId val="{00000001-845C-4C47-B64B-78B699F990A5}"/>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523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Nidhi. Today I'll walk you through InsightEngine — an end-to-end customer analytics project I built on the Online Retail II dataset, covering everything from data cleaning to a deployed, interactive dashboard. (Target: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the full data science lifecycle in six stages — clean, explore, segment, predict churn, recommend, and deploy. Each stage is documented in its own notebook, and the results all come together in one live dashboard. (Target: ~40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over half a million raw transactions. After removing missing customer IDs and invalid quantity/price rows — which represent cancellations and returns — we were left with a clean dataset of 4,383 customers across 40 countries. This cleaning step matters because every model downstream depends on it. (Target: ~45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EDA findings stood out. Revenue is seasonal, peaking sharply in November–December ahead of the holidays. The correlation heatmap confirmed that revenue per order is driven almost entirely by price, not by quantity bought. And revenue is heavily UK-concentrated, with a long tail across other countries. (Target: ~55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engineered Recency, Frequency and Monetary features per customer, scaled them, and ran K-Means with k chosen via the elbow method and silhouette score. This produced four clear segments — High Value, Loyal, Regular, and At Risk — each with a distinct business action attached to it, which I'll come back to at the end. (Target: ~60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churn, I defined it as 90 days of inactivity and trained both Logistic Regression and a tuned Random Forest, evaluated with accuracy, precision, recall, F1 and ROC-AUC on a held-out test set. Both performed similarly — around 73% accuracy and 77% ROC-AUC — so I chose Logistic Regression for the live dashboard because its coefficients are interpretable. Critically, the output isn't just a churn label — it's a probability score, so the business can prioritize who to act on first. (Target: ~65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engine uses collaborative filtering — finding customers with similar buying patterns and suggesting what they bought that the target customer hasn't. And to demonstrate statistical rigor, I built a live A/B testing tool into the dashboard using Welch's t-test, which lets you compare average order value between any two countries and get a proper hypothesis test result, not just an eyeballed difference. (Target: ~50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 the filters, KPIs, EDA, segmentation, churn predictor, recommender, and A/B testing — lives in one deployed Streamlit dashboard, with category filters, CSV export, and a sub-10-second load time. The link is live right now — I'll switch over and show it briefly. (Target: ~35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four concrete actions fall out of this analysis: protect the high-value segment, run a win-back campaign for at-risk customers, look at regional pricing where the A/B test shows real differences, and consider a separate B2B tier for bulk buyers. That's InsightEngine end-to-end — thank you, happy to take questions. (Target: ~50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insightengine-customer-analytics.streamlit.app"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3B6EA5">
              <a:alpha val="20000"/>
            </a:srgbClr>
          </a:solidFill>
          <a:ln/>
        </p:spPr>
      </p:sp>
      <p:sp>
        <p:nvSpPr>
          <p:cNvPr id="3" name="Shape 1"/>
          <p:cNvSpPr/>
          <p:nvPr/>
        </p:nvSpPr>
        <p:spPr>
          <a:xfrm>
            <a:off x="-1645920" y="4754880"/>
            <a:ext cx="4114800" cy="4114800"/>
          </a:xfrm>
          <a:prstGeom prst="ellipse">
            <a:avLst/>
          </a:prstGeom>
          <a:solidFill>
            <a:srgbClr val="E76F51">
              <a:alpha val="15000"/>
            </a:srgbClr>
          </a:solidFill>
          <a:ln/>
        </p:spPr>
      </p:sp>
      <p:sp>
        <p:nvSpPr>
          <p:cNvPr id="4" name="Shape 2"/>
          <p:cNvSpPr/>
          <p:nvPr/>
        </p:nvSpPr>
        <p:spPr>
          <a:xfrm>
            <a:off x="640080" y="640080"/>
            <a:ext cx="777240" cy="777240"/>
          </a:xfrm>
          <a:prstGeom prst="ellipse">
            <a:avLst/>
          </a:prstGeom>
          <a:solidFill>
            <a:srgbClr val="3B6EA5"/>
          </a:solidFill>
          <a:ln/>
        </p:spPr>
      </p:sp>
      <p:pic>
        <p:nvPicPr>
          <p:cNvPr id="5" name="Image 0" descr="preencoded.png"/>
          <p:cNvPicPr>
            <a:picLocks noChangeAspect="1"/>
          </p:cNvPicPr>
          <p:nvPr/>
        </p:nvPicPr>
        <p:blipFill>
          <a:blip r:embed="rId3"/>
          <a:stretch>
            <a:fillRect/>
          </a:stretch>
        </p:blipFill>
        <p:spPr>
          <a:xfrm>
            <a:off x="842162" y="842162"/>
            <a:ext cx="373075" cy="373075"/>
          </a:xfrm>
          <a:prstGeom prst="rect">
            <a:avLst/>
          </a:prstGeom>
        </p:spPr>
      </p:pic>
      <p:sp>
        <p:nvSpPr>
          <p:cNvPr id="6" name="Text 3"/>
          <p:cNvSpPr/>
          <p:nvPr/>
        </p:nvSpPr>
        <p:spPr>
          <a:xfrm>
            <a:off x="640080" y="2286000"/>
            <a:ext cx="8229600" cy="365760"/>
          </a:xfrm>
          <a:prstGeom prst="rect">
            <a:avLst/>
          </a:prstGeom>
          <a:noFill/>
          <a:ln/>
        </p:spPr>
        <p:txBody>
          <a:bodyPr wrap="square" rtlCol="0" anchor="ctr"/>
          <a:lstStyle/>
          <a:p>
            <a:pPr marL="0" indent="0">
              <a:buNone/>
            </a:pPr>
            <a:r>
              <a:rPr lang="en-US" sz="1300" b="1" kern="0" spc="200" dirty="0">
                <a:solidFill>
                  <a:srgbClr val="9FB4D6"/>
                </a:solidFill>
                <a:latin typeface="Calibri" pitchFamily="34" charset="0"/>
                <a:ea typeface="Calibri" pitchFamily="34" charset="-122"/>
                <a:cs typeface="Calibri" pitchFamily="34" charset="-120"/>
              </a:rPr>
              <a:t>CODE A NOVA  ·  DATA SCIENCE INTERNSHIP 2026</a:t>
            </a:r>
            <a:endParaRPr lang="en-US" sz="1300" dirty="0"/>
          </a:p>
        </p:txBody>
      </p:sp>
      <p:sp>
        <p:nvSpPr>
          <p:cNvPr id="7" name="Text 4"/>
          <p:cNvSpPr/>
          <p:nvPr/>
        </p:nvSpPr>
        <p:spPr>
          <a:xfrm>
            <a:off x="594360" y="2651760"/>
            <a:ext cx="914400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InsightEngine</a:t>
            </a:r>
            <a:endParaRPr lang="en-US" sz="5400" dirty="0"/>
          </a:p>
        </p:txBody>
      </p:sp>
      <p:sp>
        <p:nvSpPr>
          <p:cNvPr id="8" name="Text 5"/>
          <p:cNvSpPr/>
          <p:nvPr/>
        </p:nvSpPr>
        <p:spPr>
          <a:xfrm>
            <a:off x="640080" y="3703320"/>
            <a:ext cx="9144000" cy="548640"/>
          </a:xfrm>
          <a:prstGeom prst="rect">
            <a:avLst/>
          </a:prstGeom>
          <a:noFill/>
          <a:ln/>
        </p:spPr>
        <p:txBody>
          <a:bodyPr wrap="square" rtlCol="0" anchor="ctr"/>
          <a:lstStyle/>
          <a:p>
            <a:pPr marL="0" indent="0">
              <a:buNone/>
            </a:pPr>
            <a:r>
              <a:rPr lang="en-US" sz="2200" dirty="0">
                <a:solidFill>
                  <a:srgbClr val="EAF1FA"/>
                </a:solidFill>
                <a:latin typeface="Calibri" pitchFamily="34" charset="0"/>
                <a:ea typeface="Calibri" pitchFamily="34" charset="-122"/>
                <a:cs typeface="Calibri" pitchFamily="34" charset="-120"/>
              </a:rPr>
              <a:t>E-Commerce Customer Analytics Dashboard</a:t>
            </a:r>
            <a:endParaRPr lang="en-US" sz="2200" dirty="0"/>
          </a:p>
        </p:txBody>
      </p:sp>
      <p:sp>
        <p:nvSpPr>
          <p:cNvPr id="9" name="Text 6"/>
          <p:cNvSpPr/>
          <p:nvPr/>
        </p:nvSpPr>
        <p:spPr>
          <a:xfrm>
            <a:off x="640080" y="4251960"/>
            <a:ext cx="8686800" cy="457200"/>
          </a:xfrm>
          <a:prstGeom prst="rect">
            <a:avLst/>
          </a:prstGeom>
          <a:noFill/>
          <a:ln/>
        </p:spPr>
        <p:txBody>
          <a:bodyPr wrap="square" rtlCol="0" anchor="ctr"/>
          <a:lstStyle/>
          <a:p>
            <a:pPr marL="0" indent="0">
              <a:buNone/>
            </a:pPr>
            <a:r>
              <a:rPr lang="en-US" sz="1400" i="1" dirty="0">
                <a:solidFill>
                  <a:srgbClr val="B9C7DE"/>
                </a:solidFill>
                <a:latin typeface="Calibri" pitchFamily="34" charset="0"/>
                <a:ea typeface="Calibri" pitchFamily="34" charset="-122"/>
                <a:cs typeface="Calibri" pitchFamily="34" charset="-120"/>
              </a:rPr>
              <a:t>From raw transactions to customer segments, churn risk, and product recommendations</a:t>
            </a:r>
            <a:endParaRPr lang="en-US" sz="1400" dirty="0"/>
          </a:p>
        </p:txBody>
      </p:sp>
      <p:sp>
        <p:nvSpPr>
          <p:cNvPr id="10" name="Shape 7"/>
          <p:cNvSpPr/>
          <p:nvPr/>
        </p:nvSpPr>
        <p:spPr>
          <a:xfrm>
            <a:off x="640080" y="5989320"/>
            <a:ext cx="10881360" cy="18288"/>
          </a:xfrm>
          <a:prstGeom prst="rect">
            <a:avLst/>
          </a:prstGeom>
          <a:solidFill>
            <a:srgbClr val="3B6EA5"/>
          </a:solidFill>
          <a:ln/>
        </p:spPr>
      </p:sp>
      <p:sp>
        <p:nvSpPr>
          <p:cNvPr id="11" name="Text 8"/>
          <p:cNvSpPr/>
          <p:nvPr/>
        </p:nvSpPr>
        <p:spPr>
          <a:xfrm>
            <a:off x="640080" y="6126480"/>
            <a:ext cx="36576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Nidhi Yadav</a:t>
            </a:r>
            <a:endParaRPr lang="en-US" sz="1400" dirty="0"/>
          </a:p>
        </p:txBody>
      </p:sp>
      <p:sp>
        <p:nvSpPr>
          <p:cNvPr id="12" name="Text 9"/>
          <p:cNvSpPr/>
          <p:nvPr/>
        </p:nvSpPr>
        <p:spPr>
          <a:xfrm>
            <a:off x="7772400" y="6126480"/>
            <a:ext cx="3749040" cy="365760"/>
          </a:xfrm>
          <a:prstGeom prst="rect">
            <a:avLst/>
          </a:prstGeom>
          <a:noFill/>
          <a:ln/>
        </p:spPr>
        <p:txBody>
          <a:bodyPr wrap="square" rtlCol="0" anchor="ctr"/>
          <a:lstStyle/>
          <a:p>
            <a:pPr marL="0" indent="0" algn="r">
              <a:buNone/>
            </a:pPr>
            <a:r>
              <a:rPr lang="en-US" sz="1100" dirty="0">
                <a:solidFill>
                  <a:srgbClr val="9FB4D6"/>
                </a:solidFill>
                <a:latin typeface="Calibri" pitchFamily="34" charset="0"/>
                <a:ea typeface="Calibri" pitchFamily="34" charset="-122"/>
                <a:cs typeface="Calibri" pitchFamily="34" charset="-120"/>
              </a:rPr>
              <a:t>Online Retail II Dataset (UCI)  ·  Python · Streamlit · Scikit-learn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Project Objective</a:t>
            </a:r>
            <a:endParaRPr lang="en-US" sz="3000" dirty="0"/>
          </a:p>
        </p:txBody>
      </p:sp>
      <p:sp>
        <p:nvSpPr>
          <p:cNvPr id="3" name="Text 1"/>
          <p:cNvSpPr/>
          <p:nvPr/>
        </p:nvSpPr>
        <p:spPr>
          <a:xfrm>
            <a:off x="548640" y="1051560"/>
            <a:ext cx="10515600" cy="548640"/>
          </a:xfrm>
          <a:prstGeom prst="rect">
            <a:avLst/>
          </a:prstGeom>
          <a:noFill/>
          <a:ln/>
        </p:spPr>
        <p:txBody>
          <a:bodyPr wrap="square" rtlCol="0" anchor="ctr"/>
          <a:lstStyle/>
          <a:p>
            <a:pPr marL="0" indent="0">
              <a:buNone/>
            </a:pPr>
            <a:r>
              <a:rPr lang="en-US" sz="1500" dirty="0">
                <a:solidFill>
                  <a:srgbClr val="475569"/>
                </a:solidFill>
                <a:latin typeface="Calibri" pitchFamily="34" charset="0"/>
                <a:ea typeface="Calibri" pitchFamily="34" charset="-122"/>
                <a:cs typeface="Calibri" pitchFamily="34" charset="-120"/>
              </a:rPr>
              <a:t>Turn 525K+ raw e-commerce transactions into customer-level insight — who buys, who's leaving, and what to recommend next.</a:t>
            </a:r>
            <a:endParaRPr lang="en-US" sz="1500" dirty="0"/>
          </a:p>
        </p:txBody>
      </p:sp>
      <p:sp>
        <p:nvSpPr>
          <p:cNvPr id="4" name="Shape 2"/>
          <p:cNvSpPr/>
          <p:nvPr/>
        </p:nvSpPr>
        <p:spPr>
          <a:xfrm>
            <a:off x="640080" y="196596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5" name="Shape 3"/>
          <p:cNvSpPr/>
          <p:nvPr/>
        </p:nvSpPr>
        <p:spPr>
          <a:xfrm>
            <a:off x="868680" y="2194560"/>
            <a:ext cx="502920" cy="502920"/>
          </a:xfrm>
          <a:prstGeom prst="ellipse">
            <a:avLst/>
          </a:prstGeom>
          <a:solidFill>
            <a:srgbClr val="3B6EA5"/>
          </a:solidFill>
          <a:ln/>
        </p:spPr>
      </p:sp>
      <p:pic>
        <p:nvPicPr>
          <p:cNvPr id="6" name="Image 0" descr="preencoded.png"/>
          <p:cNvPicPr>
            <a:picLocks noChangeAspect="1"/>
          </p:cNvPicPr>
          <p:nvPr/>
        </p:nvPicPr>
        <p:blipFill>
          <a:blip r:embed="rId3"/>
          <a:stretch>
            <a:fillRect/>
          </a:stretch>
        </p:blipFill>
        <p:spPr>
          <a:xfrm>
            <a:off x="999439" y="2325319"/>
            <a:ext cx="241402" cy="241402"/>
          </a:xfrm>
          <a:prstGeom prst="rect">
            <a:avLst/>
          </a:prstGeom>
        </p:spPr>
      </p:pic>
      <p:sp>
        <p:nvSpPr>
          <p:cNvPr id="7" name="Text 4"/>
          <p:cNvSpPr/>
          <p:nvPr/>
        </p:nvSpPr>
        <p:spPr>
          <a:xfrm>
            <a:off x="1508760" y="216712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1.  Clean</a:t>
            </a:r>
            <a:endParaRPr lang="en-US" sz="1600" dirty="0"/>
          </a:p>
        </p:txBody>
      </p:sp>
      <p:sp>
        <p:nvSpPr>
          <p:cNvPr id="8" name="Text 5"/>
          <p:cNvSpPr/>
          <p:nvPr/>
        </p:nvSpPr>
        <p:spPr>
          <a:xfrm>
            <a:off x="868680" y="283464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Remove missing IDs,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cancellations &amp; errors</a:t>
            </a:r>
            <a:endParaRPr lang="en-US" sz="1200" dirty="0"/>
          </a:p>
        </p:txBody>
      </p:sp>
      <p:sp>
        <p:nvSpPr>
          <p:cNvPr id="9" name="Shape 6"/>
          <p:cNvSpPr/>
          <p:nvPr/>
        </p:nvSpPr>
        <p:spPr>
          <a:xfrm>
            <a:off x="4373880" y="196596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10" name="Shape 7"/>
          <p:cNvSpPr/>
          <p:nvPr/>
        </p:nvSpPr>
        <p:spPr>
          <a:xfrm>
            <a:off x="4602480" y="2194560"/>
            <a:ext cx="502920" cy="502920"/>
          </a:xfrm>
          <a:prstGeom prst="ellipse">
            <a:avLst/>
          </a:prstGeom>
          <a:solidFill>
            <a:srgbClr val="2A9D8F"/>
          </a:solidFill>
          <a:ln/>
        </p:spPr>
      </p:sp>
      <p:pic>
        <p:nvPicPr>
          <p:cNvPr id="11" name="Image 1" descr="preencoded.png"/>
          <p:cNvPicPr>
            <a:picLocks noChangeAspect="1"/>
          </p:cNvPicPr>
          <p:nvPr/>
        </p:nvPicPr>
        <p:blipFill>
          <a:blip r:embed="rId4"/>
          <a:stretch>
            <a:fillRect/>
          </a:stretch>
        </p:blipFill>
        <p:spPr>
          <a:xfrm>
            <a:off x="4733239" y="2325319"/>
            <a:ext cx="241402" cy="241402"/>
          </a:xfrm>
          <a:prstGeom prst="rect">
            <a:avLst/>
          </a:prstGeom>
        </p:spPr>
      </p:pic>
      <p:sp>
        <p:nvSpPr>
          <p:cNvPr id="12" name="Text 8"/>
          <p:cNvSpPr/>
          <p:nvPr/>
        </p:nvSpPr>
        <p:spPr>
          <a:xfrm>
            <a:off x="5242560" y="216712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2.  Explore</a:t>
            </a:r>
            <a:endParaRPr lang="en-US" sz="1600" dirty="0"/>
          </a:p>
        </p:txBody>
      </p:sp>
      <p:sp>
        <p:nvSpPr>
          <p:cNvPr id="13" name="Text 9"/>
          <p:cNvSpPr/>
          <p:nvPr/>
        </p:nvSpPr>
        <p:spPr>
          <a:xfrm>
            <a:off x="4602480" y="283464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Revenue, products,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geography, correlation</a:t>
            </a:r>
            <a:endParaRPr lang="en-US" sz="1200" dirty="0"/>
          </a:p>
        </p:txBody>
      </p:sp>
      <p:sp>
        <p:nvSpPr>
          <p:cNvPr id="14" name="Shape 10"/>
          <p:cNvSpPr/>
          <p:nvPr/>
        </p:nvSpPr>
        <p:spPr>
          <a:xfrm>
            <a:off x="8107680" y="196596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15" name="Shape 11"/>
          <p:cNvSpPr/>
          <p:nvPr/>
        </p:nvSpPr>
        <p:spPr>
          <a:xfrm>
            <a:off x="8336280" y="2194560"/>
            <a:ext cx="502920" cy="502920"/>
          </a:xfrm>
          <a:prstGeom prst="ellipse">
            <a:avLst/>
          </a:prstGeom>
          <a:solidFill>
            <a:srgbClr val="E9C46A"/>
          </a:solidFill>
          <a:ln/>
        </p:spPr>
      </p:sp>
      <p:pic>
        <p:nvPicPr>
          <p:cNvPr id="16" name="Image 2" descr="preencoded.png"/>
          <p:cNvPicPr>
            <a:picLocks noChangeAspect="1"/>
          </p:cNvPicPr>
          <p:nvPr/>
        </p:nvPicPr>
        <p:blipFill>
          <a:blip r:embed="rId5"/>
          <a:stretch>
            <a:fillRect/>
          </a:stretch>
        </p:blipFill>
        <p:spPr>
          <a:xfrm>
            <a:off x="8467039" y="2325319"/>
            <a:ext cx="241402" cy="241402"/>
          </a:xfrm>
          <a:prstGeom prst="rect">
            <a:avLst/>
          </a:prstGeom>
        </p:spPr>
      </p:pic>
      <p:sp>
        <p:nvSpPr>
          <p:cNvPr id="17" name="Text 12"/>
          <p:cNvSpPr/>
          <p:nvPr/>
        </p:nvSpPr>
        <p:spPr>
          <a:xfrm>
            <a:off x="8976360" y="216712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3.  Segment</a:t>
            </a:r>
            <a:endParaRPr lang="en-US" sz="1600" dirty="0"/>
          </a:p>
        </p:txBody>
      </p:sp>
      <p:sp>
        <p:nvSpPr>
          <p:cNvPr id="18" name="Text 13"/>
          <p:cNvSpPr/>
          <p:nvPr/>
        </p:nvSpPr>
        <p:spPr>
          <a:xfrm>
            <a:off x="8336280" y="283464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RFM features +</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K-Means clustering</a:t>
            </a:r>
            <a:endParaRPr lang="en-US" sz="1200" dirty="0"/>
          </a:p>
        </p:txBody>
      </p:sp>
      <p:sp>
        <p:nvSpPr>
          <p:cNvPr id="19" name="Shape 14"/>
          <p:cNvSpPr/>
          <p:nvPr/>
        </p:nvSpPr>
        <p:spPr>
          <a:xfrm>
            <a:off x="640080" y="420624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20" name="Shape 15"/>
          <p:cNvSpPr/>
          <p:nvPr/>
        </p:nvSpPr>
        <p:spPr>
          <a:xfrm>
            <a:off x="868680" y="4434840"/>
            <a:ext cx="502920" cy="502920"/>
          </a:xfrm>
          <a:prstGeom prst="ellipse">
            <a:avLst/>
          </a:prstGeom>
          <a:solidFill>
            <a:srgbClr val="E76F51"/>
          </a:solidFill>
          <a:ln/>
        </p:spPr>
      </p:sp>
      <p:pic>
        <p:nvPicPr>
          <p:cNvPr id="21" name="Image 3" descr="preencoded.png"/>
          <p:cNvPicPr>
            <a:picLocks noChangeAspect="1"/>
          </p:cNvPicPr>
          <p:nvPr/>
        </p:nvPicPr>
        <p:blipFill>
          <a:blip r:embed="rId6"/>
          <a:stretch>
            <a:fillRect/>
          </a:stretch>
        </p:blipFill>
        <p:spPr>
          <a:xfrm>
            <a:off x="999439" y="4565599"/>
            <a:ext cx="241402" cy="241402"/>
          </a:xfrm>
          <a:prstGeom prst="rect">
            <a:avLst/>
          </a:prstGeom>
        </p:spPr>
      </p:pic>
      <p:sp>
        <p:nvSpPr>
          <p:cNvPr id="22" name="Text 16"/>
          <p:cNvSpPr/>
          <p:nvPr/>
        </p:nvSpPr>
        <p:spPr>
          <a:xfrm>
            <a:off x="1508760" y="440740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4.  Predict</a:t>
            </a:r>
            <a:endParaRPr lang="en-US" sz="1600" dirty="0"/>
          </a:p>
        </p:txBody>
      </p:sp>
      <p:sp>
        <p:nvSpPr>
          <p:cNvPr id="23" name="Text 17"/>
          <p:cNvSpPr/>
          <p:nvPr/>
        </p:nvSpPr>
        <p:spPr>
          <a:xfrm>
            <a:off x="868680" y="507492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Churn risk via</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Logistic Regression / RF</a:t>
            </a:r>
            <a:endParaRPr lang="en-US" sz="1200" dirty="0"/>
          </a:p>
        </p:txBody>
      </p:sp>
      <p:sp>
        <p:nvSpPr>
          <p:cNvPr id="24" name="Shape 18"/>
          <p:cNvSpPr/>
          <p:nvPr/>
        </p:nvSpPr>
        <p:spPr>
          <a:xfrm>
            <a:off x="4373880" y="420624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25" name="Shape 19"/>
          <p:cNvSpPr/>
          <p:nvPr/>
        </p:nvSpPr>
        <p:spPr>
          <a:xfrm>
            <a:off x="4602480" y="4434840"/>
            <a:ext cx="502920" cy="502920"/>
          </a:xfrm>
          <a:prstGeom prst="ellipse">
            <a:avLst/>
          </a:prstGeom>
          <a:solidFill>
            <a:srgbClr val="3B6EA5"/>
          </a:solidFill>
          <a:ln/>
        </p:spPr>
      </p:sp>
      <p:pic>
        <p:nvPicPr>
          <p:cNvPr id="26" name="Image 4" descr="preencoded.png"/>
          <p:cNvPicPr>
            <a:picLocks noChangeAspect="1"/>
          </p:cNvPicPr>
          <p:nvPr/>
        </p:nvPicPr>
        <p:blipFill>
          <a:blip r:embed="rId7"/>
          <a:stretch>
            <a:fillRect/>
          </a:stretch>
        </p:blipFill>
        <p:spPr>
          <a:xfrm>
            <a:off x="4733239" y="4565599"/>
            <a:ext cx="241402" cy="241402"/>
          </a:xfrm>
          <a:prstGeom prst="rect">
            <a:avLst/>
          </a:prstGeom>
        </p:spPr>
      </p:pic>
      <p:sp>
        <p:nvSpPr>
          <p:cNvPr id="27" name="Text 20"/>
          <p:cNvSpPr/>
          <p:nvPr/>
        </p:nvSpPr>
        <p:spPr>
          <a:xfrm>
            <a:off x="5242560" y="440740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5.  Recommend</a:t>
            </a:r>
            <a:endParaRPr lang="en-US" sz="1600" dirty="0"/>
          </a:p>
        </p:txBody>
      </p:sp>
      <p:sp>
        <p:nvSpPr>
          <p:cNvPr id="28" name="Text 21"/>
          <p:cNvSpPr/>
          <p:nvPr/>
        </p:nvSpPr>
        <p:spPr>
          <a:xfrm>
            <a:off x="4602480" y="507492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Collaborative filtering,</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top-5 per customer</a:t>
            </a:r>
            <a:endParaRPr lang="en-US" sz="1200" dirty="0"/>
          </a:p>
        </p:txBody>
      </p:sp>
      <p:sp>
        <p:nvSpPr>
          <p:cNvPr id="29" name="Shape 22"/>
          <p:cNvSpPr/>
          <p:nvPr/>
        </p:nvSpPr>
        <p:spPr>
          <a:xfrm>
            <a:off x="8107680" y="4206240"/>
            <a:ext cx="3413760" cy="1965960"/>
          </a:xfrm>
          <a:prstGeom prst="roundRect">
            <a:avLst>
              <a:gd name="adj" fmla="val 3721"/>
            </a:avLst>
          </a:prstGeom>
          <a:solidFill>
            <a:srgbClr val="FFFFFF"/>
          </a:solidFill>
          <a:ln/>
          <a:effectLst>
            <a:outerShdw blurRad="101600" dist="38100" dir="5400000" algn="bl" rotWithShape="0">
              <a:srgbClr val="1F2A44">
                <a:alpha val="10000"/>
              </a:srgbClr>
            </a:outerShdw>
          </a:effectLst>
        </p:spPr>
      </p:sp>
      <p:sp>
        <p:nvSpPr>
          <p:cNvPr id="30" name="Shape 23"/>
          <p:cNvSpPr/>
          <p:nvPr/>
        </p:nvSpPr>
        <p:spPr>
          <a:xfrm>
            <a:off x="8336280" y="4434840"/>
            <a:ext cx="502920" cy="502920"/>
          </a:xfrm>
          <a:prstGeom prst="ellipse">
            <a:avLst/>
          </a:prstGeom>
          <a:solidFill>
            <a:srgbClr val="2A9D8F"/>
          </a:solidFill>
          <a:ln/>
        </p:spPr>
      </p:sp>
      <p:pic>
        <p:nvPicPr>
          <p:cNvPr id="31" name="Image 5" descr="preencoded.png"/>
          <p:cNvPicPr>
            <a:picLocks noChangeAspect="1"/>
          </p:cNvPicPr>
          <p:nvPr/>
        </p:nvPicPr>
        <p:blipFill>
          <a:blip r:embed="rId8"/>
          <a:stretch>
            <a:fillRect/>
          </a:stretch>
        </p:blipFill>
        <p:spPr>
          <a:xfrm>
            <a:off x="8467039" y="4565599"/>
            <a:ext cx="241402" cy="241402"/>
          </a:xfrm>
          <a:prstGeom prst="rect">
            <a:avLst/>
          </a:prstGeom>
        </p:spPr>
      </p:pic>
      <p:sp>
        <p:nvSpPr>
          <p:cNvPr id="32" name="Text 24"/>
          <p:cNvSpPr/>
          <p:nvPr/>
        </p:nvSpPr>
        <p:spPr>
          <a:xfrm>
            <a:off x="8976360" y="4407408"/>
            <a:ext cx="2407920" cy="365760"/>
          </a:xfrm>
          <a:prstGeom prst="rect">
            <a:avLst/>
          </a:prstGeom>
          <a:noFill/>
          <a:ln/>
        </p:spPr>
        <p:txBody>
          <a:bodyPr wrap="square" lIns="0" tIns="0" rIns="0" bIns="0"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6.  Deploy</a:t>
            </a:r>
            <a:endParaRPr lang="en-US" sz="1600" dirty="0"/>
          </a:p>
        </p:txBody>
      </p:sp>
      <p:sp>
        <p:nvSpPr>
          <p:cNvPr id="33" name="Text 25"/>
          <p:cNvSpPr/>
          <p:nvPr/>
        </p:nvSpPr>
        <p:spPr>
          <a:xfrm>
            <a:off x="8336280" y="5074920"/>
            <a:ext cx="2956560" cy="91440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Interactive Streamlit</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dashboard, live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Dataset</a:t>
            </a:r>
            <a:endParaRPr lang="en-US" sz="30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dirty="0">
                <a:solidFill>
                  <a:srgbClr val="B9C7DE"/>
                </a:solidFill>
                <a:latin typeface="Calibri" pitchFamily="34" charset="0"/>
                <a:ea typeface="Calibri" pitchFamily="34" charset="-122"/>
                <a:cs typeface="Calibri" pitchFamily="34" charset="-120"/>
              </a:rPr>
              <a:t>Online Retail II  ·  UK-based online retailer  ·  Dec 2009 – Dec 2010</a:t>
            </a:r>
            <a:endParaRPr lang="en-US" sz="1400" dirty="0"/>
          </a:p>
        </p:txBody>
      </p:sp>
      <p:sp>
        <p:nvSpPr>
          <p:cNvPr id="4" name="Shape 2"/>
          <p:cNvSpPr/>
          <p:nvPr/>
        </p:nvSpPr>
        <p:spPr>
          <a:xfrm>
            <a:off x="548640" y="1691640"/>
            <a:ext cx="2514600" cy="1371600"/>
          </a:xfrm>
          <a:prstGeom prst="roundRect">
            <a:avLst>
              <a:gd name="adj" fmla="val 5333"/>
            </a:avLst>
          </a:prstGeom>
          <a:solidFill>
            <a:srgbClr val="26345A"/>
          </a:solidFill>
          <a:ln/>
        </p:spPr>
      </p:sp>
      <p:sp>
        <p:nvSpPr>
          <p:cNvPr id="5" name="Text 3"/>
          <p:cNvSpPr/>
          <p:nvPr/>
        </p:nvSpPr>
        <p:spPr>
          <a:xfrm>
            <a:off x="548640" y="1828800"/>
            <a:ext cx="2514600" cy="640080"/>
          </a:xfrm>
          <a:prstGeom prst="rect">
            <a:avLst/>
          </a:prstGeom>
          <a:noFill/>
          <a:ln/>
        </p:spPr>
        <p:txBody>
          <a:bodyPr wrap="square" lIns="0" tIns="0" rIns="0" bIns="0" rtlCol="0" anchor="ctr"/>
          <a:lstStyle/>
          <a:p>
            <a:pPr marL="0" indent="0" algn="ctr">
              <a:buNone/>
            </a:pPr>
            <a:r>
              <a:rPr lang="en-US" sz="3000" b="1" dirty="0">
                <a:solidFill>
                  <a:srgbClr val="2A9D8F"/>
                </a:solidFill>
                <a:latin typeface="Calibri" pitchFamily="34" charset="0"/>
                <a:ea typeface="Calibri" pitchFamily="34" charset="-122"/>
                <a:cs typeface="Calibri" pitchFamily="34" charset="-120"/>
              </a:rPr>
              <a:t>525K+</a:t>
            </a:r>
            <a:endParaRPr lang="en-US" sz="3000" dirty="0"/>
          </a:p>
        </p:txBody>
      </p:sp>
      <p:sp>
        <p:nvSpPr>
          <p:cNvPr id="6" name="Text 4"/>
          <p:cNvSpPr/>
          <p:nvPr/>
        </p:nvSpPr>
        <p:spPr>
          <a:xfrm>
            <a:off x="548640" y="2468880"/>
            <a:ext cx="2514600" cy="457200"/>
          </a:xfrm>
          <a:prstGeom prst="rect">
            <a:avLst/>
          </a:prstGeom>
          <a:noFill/>
          <a:ln/>
        </p:spPr>
        <p:txBody>
          <a:bodyPr wrap="square" lIns="0" tIns="0" rIns="0" bIns="0" rtlCol="0" anchor="ctr"/>
          <a:lstStyle/>
          <a:p>
            <a:pPr marL="0" indent="0" algn="ctr">
              <a:buNone/>
            </a:pPr>
            <a:r>
              <a:rPr lang="en-US" sz="1150" dirty="0">
                <a:solidFill>
                  <a:srgbClr val="B9C7DE"/>
                </a:solidFill>
                <a:latin typeface="Calibri" pitchFamily="34" charset="0"/>
                <a:ea typeface="Calibri" pitchFamily="34" charset="-122"/>
                <a:cs typeface="Calibri" pitchFamily="34" charset="-120"/>
              </a:rPr>
              <a:t>Raw transaction rows</a:t>
            </a:r>
            <a:endParaRPr lang="en-US" sz="1150" dirty="0"/>
          </a:p>
        </p:txBody>
      </p:sp>
      <p:sp>
        <p:nvSpPr>
          <p:cNvPr id="7" name="Shape 5"/>
          <p:cNvSpPr/>
          <p:nvPr/>
        </p:nvSpPr>
        <p:spPr>
          <a:xfrm>
            <a:off x="3291840" y="1691640"/>
            <a:ext cx="2514600" cy="1371600"/>
          </a:xfrm>
          <a:prstGeom prst="roundRect">
            <a:avLst>
              <a:gd name="adj" fmla="val 5333"/>
            </a:avLst>
          </a:prstGeom>
          <a:solidFill>
            <a:srgbClr val="26345A"/>
          </a:solidFill>
          <a:ln/>
        </p:spPr>
      </p:sp>
      <p:sp>
        <p:nvSpPr>
          <p:cNvPr id="8" name="Text 6"/>
          <p:cNvSpPr/>
          <p:nvPr/>
        </p:nvSpPr>
        <p:spPr>
          <a:xfrm>
            <a:off x="3291840" y="1828800"/>
            <a:ext cx="2514600" cy="640080"/>
          </a:xfrm>
          <a:prstGeom prst="rect">
            <a:avLst/>
          </a:prstGeom>
          <a:noFill/>
          <a:ln/>
        </p:spPr>
        <p:txBody>
          <a:bodyPr wrap="square" lIns="0" tIns="0" rIns="0" bIns="0" rtlCol="0" anchor="ctr"/>
          <a:lstStyle/>
          <a:p>
            <a:pPr marL="0" indent="0" algn="ctr">
              <a:buNone/>
            </a:pPr>
            <a:r>
              <a:rPr lang="en-US" sz="3000" b="1" dirty="0">
                <a:solidFill>
                  <a:srgbClr val="2A9D8F"/>
                </a:solidFill>
                <a:latin typeface="Calibri" pitchFamily="34" charset="0"/>
                <a:ea typeface="Calibri" pitchFamily="34" charset="-122"/>
                <a:cs typeface="Calibri" pitchFamily="34" charset="-120"/>
              </a:rPr>
              <a:t>4,383</a:t>
            </a:r>
            <a:endParaRPr lang="en-US" sz="3000" dirty="0"/>
          </a:p>
        </p:txBody>
      </p:sp>
      <p:sp>
        <p:nvSpPr>
          <p:cNvPr id="9" name="Text 7"/>
          <p:cNvSpPr/>
          <p:nvPr/>
        </p:nvSpPr>
        <p:spPr>
          <a:xfrm>
            <a:off x="3291840" y="2468880"/>
            <a:ext cx="2514600" cy="457200"/>
          </a:xfrm>
          <a:prstGeom prst="rect">
            <a:avLst/>
          </a:prstGeom>
          <a:noFill/>
          <a:ln/>
        </p:spPr>
        <p:txBody>
          <a:bodyPr wrap="square" lIns="0" tIns="0" rIns="0" bIns="0" rtlCol="0" anchor="ctr"/>
          <a:lstStyle/>
          <a:p>
            <a:pPr marL="0" indent="0" algn="ctr">
              <a:buNone/>
            </a:pPr>
            <a:r>
              <a:rPr lang="en-US" sz="1150" dirty="0">
                <a:solidFill>
                  <a:srgbClr val="B9C7DE"/>
                </a:solidFill>
                <a:latin typeface="Calibri" pitchFamily="34" charset="0"/>
                <a:ea typeface="Calibri" pitchFamily="34" charset="-122"/>
                <a:cs typeface="Calibri" pitchFamily="34" charset="-120"/>
              </a:rPr>
              <a:t>Unique customers</a:t>
            </a:r>
            <a:endParaRPr lang="en-US" sz="1150" dirty="0"/>
          </a:p>
        </p:txBody>
      </p:sp>
      <p:sp>
        <p:nvSpPr>
          <p:cNvPr id="10" name="Shape 8"/>
          <p:cNvSpPr/>
          <p:nvPr/>
        </p:nvSpPr>
        <p:spPr>
          <a:xfrm>
            <a:off x="6035040" y="1691640"/>
            <a:ext cx="2514600" cy="1371600"/>
          </a:xfrm>
          <a:prstGeom prst="roundRect">
            <a:avLst>
              <a:gd name="adj" fmla="val 5333"/>
            </a:avLst>
          </a:prstGeom>
          <a:solidFill>
            <a:srgbClr val="26345A"/>
          </a:solidFill>
          <a:ln/>
        </p:spPr>
      </p:sp>
      <p:sp>
        <p:nvSpPr>
          <p:cNvPr id="11" name="Text 9"/>
          <p:cNvSpPr/>
          <p:nvPr/>
        </p:nvSpPr>
        <p:spPr>
          <a:xfrm>
            <a:off x="6035040" y="1828800"/>
            <a:ext cx="2514600" cy="640080"/>
          </a:xfrm>
          <a:prstGeom prst="rect">
            <a:avLst/>
          </a:prstGeom>
          <a:noFill/>
          <a:ln/>
        </p:spPr>
        <p:txBody>
          <a:bodyPr wrap="square" lIns="0" tIns="0" rIns="0" bIns="0" rtlCol="0" anchor="ctr"/>
          <a:lstStyle/>
          <a:p>
            <a:pPr marL="0" indent="0" algn="ctr">
              <a:buNone/>
            </a:pPr>
            <a:r>
              <a:rPr lang="en-US" sz="3000" b="1" dirty="0">
                <a:solidFill>
                  <a:srgbClr val="2A9D8F"/>
                </a:solidFill>
                <a:latin typeface="Calibri" pitchFamily="34" charset="0"/>
                <a:ea typeface="Calibri" pitchFamily="34" charset="-122"/>
                <a:cs typeface="Calibri" pitchFamily="34" charset="-120"/>
              </a:rPr>
              <a:t>40</a:t>
            </a:r>
            <a:endParaRPr lang="en-US" sz="3000" dirty="0"/>
          </a:p>
        </p:txBody>
      </p:sp>
      <p:sp>
        <p:nvSpPr>
          <p:cNvPr id="12" name="Text 10"/>
          <p:cNvSpPr/>
          <p:nvPr/>
        </p:nvSpPr>
        <p:spPr>
          <a:xfrm>
            <a:off x="6035040" y="2468880"/>
            <a:ext cx="2514600" cy="457200"/>
          </a:xfrm>
          <a:prstGeom prst="rect">
            <a:avLst/>
          </a:prstGeom>
          <a:noFill/>
          <a:ln/>
        </p:spPr>
        <p:txBody>
          <a:bodyPr wrap="square" lIns="0" tIns="0" rIns="0" bIns="0" rtlCol="0" anchor="ctr"/>
          <a:lstStyle/>
          <a:p>
            <a:pPr marL="0" indent="0" algn="ctr">
              <a:buNone/>
            </a:pPr>
            <a:r>
              <a:rPr lang="en-US" sz="1150" dirty="0">
                <a:solidFill>
                  <a:srgbClr val="B9C7DE"/>
                </a:solidFill>
                <a:latin typeface="Calibri" pitchFamily="34" charset="0"/>
                <a:ea typeface="Calibri" pitchFamily="34" charset="-122"/>
                <a:cs typeface="Calibri" pitchFamily="34" charset="-120"/>
              </a:rPr>
              <a:t>Countries represented</a:t>
            </a:r>
            <a:endParaRPr lang="en-US" sz="1150" dirty="0"/>
          </a:p>
        </p:txBody>
      </p:sp>
      <p:sp>
        <p:nvSpPr>
          <p:cNvPr id="13" name="Shape 11"/>
          <p:cNvSpPr/>
          <p:nvPr/>
        </p:nvSpPr>
        <p:spPr>
          <a:xfrm>
            <a:off x="8778240" y="1691640"/>
            <a:ext cx="2514600" cy="1371600"/>
          </a:xfrm>
          <a:prstGeom prst="roundRect">
            <a:avLst>
              <a:gd name="adj" fmla="val 5333"/>
            </a:avLst>
          </a:prstGeom>
          <a:solidFill>
            <a:srgbClr val="26345A"/>
          </a:solidFill>
          <a:ln/>
        </p:spPr>
      </p:sp>
      <p:sp>
        <p:nvSpPr>
          <p:cNvPr id="14" name="Text 12"/>
          <p:cNvSpPr/>
          <p:nvPr/>
        </p:nvSpPr>
        <p:spPr>
          <a:xfrm>
            <a:off x="8778240" y="1828800"/>
            <a:ext cx="2514600" cy="640080"/>
          </a:xfrm>
          <a:prstGeom prst="rect">
            <a:avLst/>
          </a:prstGeom>
          <a:noFill/>
          <a:ln/>
        </p:spPr>
        <p:txBody>
          <a:bodyPr wrap="square" lIns="0" tIns="0" rIns="0" bIns="0" rtlCol="0" anchor="ctr"/>
          <a:lstStyle/>
          <a:p>
            <a:pPr marL="0" indent="0" algn="ctr">
              <a:buNone/>
            </a:pPr>
            <a:r>
              <a:rPr lang="en-US" sz="3000" b="1" dirty="0">
                <a:solidFill>
                  <a:srgbClr val="2A9D8F"/>
                </a:solidFill>
                <a:latin typeface="Calibri" pitchFamily="34" charset="0"/>
                <a:ea typeface="Calibri" pitchFamily="34" charset="-122"/>
                <a:cs typeface="Calibri" pitchFamily="34" charset="-120"/>
              </a:rPr>
              <a:t>£8M+</a:t>
            </a:r>
            <a:endParaRPr lang="en-US" sz="3000" dirty="0"/>
          </a:p>
        </p:txBody>
      </p:sp>
      <p:sp>
        <p:nvSpPr>
          <p:cNvPr id="15" name="Text 13"/>
          <p:cNvSpPr/>
          <p:nvPr/>
        </p:nvSpPr>
        <p:spPr>
          <a:xfrm>
            <a:off x="8778240" y="2468880"/>
            <a:ext cx="2514600" cy="457200"/>
          </a:xfrm>
          <a:prstGeom prst="rect">
            <a:avLst/>
          </a:prstGeom>
          <a:noFill/>
          <a:ln/>
        </p:spPr>
        <p:txBody>
          <a:bodyPr wrap="square" lIns="0" tIns="0" rIns="0" bIns="0" rtlCol="0" anchor="ctr"/>
          <a:lstStyle/>
          <a:p>
            <a:pPr marL="0" indent="0" algn="ctr">
              <a:buNone/>
            </a:pPr>
            <a:r>
              <a:rPr lang="en-US" sz="1150" dirty="0">
                <a:solidFill>
                  <a:srgbClr val="B9C7DE"/>
                </a:solidFill>
                <a:latin typeface="Calibri" pitchFamily="34" charset="0"/>
                <a:ea typeface="Calibri" pitchFamily="34" charset="-122"/>
                <a:cs typeface="Calibri" pitchFamily="34" charset="-120"/>
              </a:rPr>
              <a:t>Total revenue analyzed</a:t>
            </a:r>
            <a:endParaRPr lang="en-US" sz="1150" dirty="0"/>
          </a:p>
        </p:txBody>
      </p:sp>
      <p:sp>
        <p:nvSpPr>
          <p:cNvPr id="16" name="Text 14"/>
          <p:cNvSpPr/>
          <p:nvPr/>
        </p:nvSpPr>
        <p:spPr>
          <a:xfrm>
            <a:off x="548640" y="342900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Cleaning Steps Applied</a:t>
            </a:r>
            <a:endParaRPr lang="en-US" sz="1600" dirty="0"/>
          </a:p>
        </p:txBody>
      </p:sp>
      <p:sp>
        <p:nvSpPr>
          <p:cNvPr id="17" name="Text 15"/>
          <p:cNvSpPr/>
          <p:nvPr/>
        </p:nvSpPr>
        <p:spPr>
          <a:xfrm>
            <a:off x="548640" y="3840480"/>
            <a:ext cx="6400800" cy="2377440"/>
          </a:xfrm>
          <a:prstGeom prst="rect">
            <a:avLst/>
          </a:prstGeom>
          <a:noFill/>
          <a:ln/>
        </p:spPr>
        <p:txBody>
          <a:bodyPr wrap="square" rtlCol="0" anchor="ctr"/>
          <a:lstStyle/>
          <a:p>
            <a:pPr marL="342900" indent="-342900">
              <a:spcAft>
                <a:spcPts val="1000"/>
              </a:spcAft>
              <a:buSzPct val="100000"/>
              <a:buChar char="•"/>
            </a:pPr>
            <a:r>
              <a:rPr lang="en-US" sz="1350" dirty="0">
                <a:solidFill>
                  <a:srgbClr val="DCE6F5"/>
                </a:solidFill>
                <a:latin typeface="Calibri" pitchFamily="34" charset="0"/>
                <a:ea typeface="Calibri" pitchFamily="34" charset="-122"/>
                <a:cs typeface="Calibri" pitchFamily="34" charset="-120"/>
              </a:rPr>
              <a:t>Dropped rows with missing Customer ID — can't attribute to a customer</a:t>
            </a:r>
            <a:endParaRPr lang="en-US" sz="1350" dirty="0"/>
          </a:p>
          <a:p>
            <a:pPr marL="342900" indent="-342900">
              <a:spcAft>
                <a:spcPts val="1000"/>
              </a:spcAft>
              <a:buSzPct val="100000"/>
              <a:buChar char="•"/>
            </a:pPr>
            <a:r>
              <a:rPr lang="en-US" sz="1350" dirty="0">
                <a:solidFill>
                  <a:srgbClr val="DCE6F5"/>
                </a:solidFill>
                <a:latin typeface="Calibri" pitchFamily="34" charset="0"/>
                <a:ea typeface="Calibri" pitchFamily="34" charset="-122"/>
                <a:cs typeface="Calibri" pitchFamily="34" charset="-120"/>
              </a:rPr>
              <a:t>Removed Quantity ≤ 0 and Price ≤ 0 — cancellations, returns, errors</a:t>
            </a:r>
            <a:endParaRPr lang="en-US" sz="1350" dirty="0"/>
          </a:p>
          <a:p>
            <a:pPr marL="342900" indent="-342900">
              <a:spcAft>
                <a:spcPts val="1000"/>
              </a:spcAft>
              <a:buSzPct val="100000"/>
              <a:buChar char="•"/>
            </a:pPr>
            <a:r>
              <a:rPr lang="en-US" sz="1350" dirty="0">
                <a:solidFill>
                  <a:srgbClr val="DCE6F5"/>
                </a:solidFill>
                <a:latin typeface="Calibri" pitchFamily="34" charset="0"/>
                <a:ea typeface="Calibri" pitchFamily="34" charset="-122"/>
                <a:cs typeface="Calibri" pitchFamily="34" charset="-120"/>
              </a:rPr>
              <a:t>Converted InvoiceDate to proper datetime for time-series analysis</a:t>
            </a:r>
            <a:endParaRPr lang="en-US" sz="1350" dirty="0"/>
          </a:p>
          <a:p>
            <a:pPr marL="342900" indent="-342900">
              <a:spcAft>
                <a:spcPts val="1000"/>
              </a:spcAft>
              <a:buSzPct val="100000"/>
              <a:buChar char="•"/>
            </a:pPr>
            <a:r>
              <a:rPr lang="en-US" sz="1350" dirty="0">
                <a:solidFill>
                  <a:srgbClr val="DCE6F5"/>
                </a:solidFill>
                <a:latin typeface="Calibri" pitchFamily="34" charset="0"/>
                <a:ea typeface="Calibri" pitchFamily="34" charset="-122"/>
                <a:cs typeface="Calibri" pitchFamily="34" charset="-120"/>
              </a:rPr>
              <a:t>Engineered TotalAmount = Quantity × Price as the core revenue feature</a:t>
            </a:r>
            <a:endParaRPr lang="en-US" sz="1350" dirty="0"/>
          </a:p>
        </p:txBody>
      </p:sp>
      <p:sp>
        <p:nvSpPr>
          <p:cNvPr id="18" name="Shape 16"/>
          <p:cNvSpPr/>
          <p:nvPr/>
        </p:nvSpPr>
        <p:spPr>
          <a:xfrm>
            <a:off x="7315200" y="3840480"/>
            <a:ext cx="4114800" cy="2331720"/>
          </a:xfrm>
          <a:prstGeom prst="roundRect">
            <a:avLst>
              <a:gd name="adj" fmla="val 3137"/>
            </a:avLst>
          </a:prstGeom>
          <a:solidFill>
            <a:srgbClr val="26345A"/>
          </a:solidFill>
          <a:ln/>
        </p:spPr>
      </p:sp>
      <p:sp>
        <p:nvSpPr>
          <p:cNvPr id="19" name="Shape 17"/>
          <p:cNvSpPr/>
          <p:nvPr/>
        </p:nvSpPr>
        <p:spPr>
          <a:xfrm>
            <a:off x="7589520" y="4069080"/>
            <a:ext cx="457200" cy="457200"/>
          </a:xfrm>
          <a:prstGeom prst="ellipse">
            <a:avLst/>
          </a:prstGeom>
          <a:solidFill>
            <a:srgbClr val="2A9D8F"/>
          </a:solidFill>
          <a:ln/>
        </p:spPr>
      </p:sp>
      <p:pic>
        <p:nvPicPr>
          <p:cNvPr id="20" name="Image 0" descr="preencoded.png"/>
          <p:cNvPicPr>
            <a:picLocks noChangeAspect="1"/>
          </p:cNvPicPr>
          <p:nvPr/>
        </p:nvPicPr>
        <p:blipFill>
          <a:blip r:embed="rId3"/>
          <a:stretch>
            <a:fillRect/>
          </a:stretch>
        </p:blipFill>
        <p:spPr>
          <a:xfrm>
            <a:off x="7708392" y="4187952"/>
            <a:ext cx="219456" cy="219456"/>
          </a:xfrm>
          <a:prstGeom prst="rect">
            <a:avLst/>
          </a:prstGeom>
        </p:spPr>
      </p:pic>
      <p:sp>
        <p:nvSpPr>
          <p:cNvPr id="21" name="Text 18"/>
          <p:cNvSpPr/>
          <p:nvPr/>
        </p:nvSpPr>
        <p:spPr>
          <a:xfrm>
            <a:off x="8183880" y="4114800"/>
            <a:ext cx="301752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22" name="Text 19"/>
          <p:cNvSpPr/>
          <p:nvPr/>
        </p:nvSpPr>
        <p:spPr>
          <a:xfrm>
            <a:off x="7589520" y="4617720"/>
            <a:ext cx="3657600" cy="1463040"/>
          </a:xfrm>
          <a:prstGeom prst="rect">
            <a:avLst/>
          </a:prstGeom>
          <a:noFill/>
          <a:ln/>
        </p:spPr>
        <p:txBody>
          <a:bodyPr wrap="square" rtlCol="0" anchor="ctr"/>
          <a:lstStyle/>
          <a:p>
            <a:pPr marL="0" indent="0">
              <a:buNone/>
            </a:pPr>
            <a:r>
              <a:rPr lang="en-US" sz="1200" i="1" dirty="0">
                <a:solidFill>
                  <a:srgbClr val="B9C7DE"/>
                </a:solidFill>
                <a:latin typeface="Calibri" pitchFamily="34" charset="0"/>
                <a:ea typeface="Calibri" pitchFamily="34" charset="-122"/>
                <a:cs typeface="Calibri" pitchFamily="34" charset="-120"/>
              </a:rPr>
              <a:t>Every downstream model — RFM, segmentation, churn, recommendations — depends on a known customer and a valid transaction. Cleaning first means trustworthy insight later.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What the Data Told Us</a:t>
            </a:r>
            <a:endParaRPr lang="en-US" sz="30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Exploratory Data Analysis  ·  Distributions, trends, geography, correlation</a:t>
            </a:r>
            <a:endParaRPr lang="en-US" sz="1400" dirty="0"/>
          </a:p>
        </p:txBody>
      </p:sp>
      <p:sp>
        <p:nvSpPr>
          <p:cNvPr id="4" name="Shape 2"/>
          <p:cNvSpPr/>
          <p:nvPr/>
        </p:nvSpPr>
        <p:spPr>
          <a:xfrm>
            <a:off x="548640" y="1554480"/>
            <a:ext cx="6035040" cy="3246120"/>
          </a:xfrm>
          <a:prstGeom prst="roundRect">
            <a:avLst>
              <a:gd name="adj" fmla="val 2254"/>
            </a:avLst>
          </a:prstGeom>
          <a:solidFill>
            <a:srgbClr val="FFFFFF"/>
          </a:solidFill>
          <a:ln/>
          <a:effectLst>
            <a:outerShdw blurRad="101600" dist="38100" dir="5400000" algn="bl" rotWithShape="0">
              <a:srgbClr val="1F2A44">
                <a:alpha val="10000"/>
              </a:srgbClr>
            </a:outerShdw>
          </a:effectLst>
        </p:spPr>
      </p:sp>
      <p:sp>
        <p:nvSpPr>
          <p:cNvPr id="5" name="Text 3"/>
          <p:cNvSpPr/>
          <p:nvPr/>
        </p:nvSpPr>
        <p:spPr>
          <a:xfrm>
            <a:off x="777240" y="1691640"/>
            <a:ext cx="5486400" cy="320040"/>
          </a:xfrm>
          <a:prstGeom prst="rect">
            <a:avLst/>
          </a:prstGeom>
          <a:noFill/>
          <a:ln/>
        </p:spPr>
        <p:txBody>
          <a:bodyPr wrap="square"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Revenue Over Time (£000s)</a:t>
            </a:r>
            <a:endParaRPr lang="en-US" sz="1300" dirty="0"/>
          </a:p>
        </p:txBody>
      </p:sp>
      <p:graphicFrame>
        <p:nvGraphicFramePr>
          <p:cNvPr id="6" name="Chart 0"/>
          <p:cNvGraphicFramePr/>
          <p:nvPr/>
        </p:nvGraphicFramePr>
        <p:xfrm>
          <a:off x="777240" y="2057400"/>
          <a:ext cx="557784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66560" y="1554480"/>
            <a:ext cx="4846320" cy="3246120"/>
          </a:xfrm>
          <a:prstGeom prst="roundRect">
            <a:avLst>
              <a:gd name="adj" fmla="val 2254"/>
            </a:avLst>
          </a:prstGeom>
          <a:solidFill>
            <a:srgbClr val="FFFFFF"/>
          </a:solidFill>
          <a:ln/>
          <a:effectLst>
            <a:outerShdw blurRad="101600" dist="38100" dir="5400000" algn="bl" rotWithShape="0">
              <a:srgbClr val="1F2A44">
                <a:alpha val="10000"/>
              </a:srgbClr>
            </a:outerShdw>
          </a:effectLst>
        </p:spPr>
      </p:sp>
      <p:sp>
        <p:nvSpPr>
          <p:cNvPr id="8" name="Text 5"/>
          <p:cNvSpPr/>
          <p:nvPr/>
        </p:nvSpPr>
        <p:spPr>
          <a:xfrm>
            <a:off x="6995160" y="1691640"/>
            <a:ext cx="4389120" cy="502920"/>
          </a:xfrm>
          <a:prstGeom prst="rect">
            <a:avLst/>
          </a:prstGeom>
          <a:noFill/>
          <a:ln/>
        </p:spPr>
        <p:txBody>
          <a:bodyPr wrap="square"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Quantity × Price → Revenue Correlation</a:t>
            </a:r>
            <a:endParaRPr lang="en-US" sz="1300" dirty="0"/>
          </a:p>
        </p:txBody>
      </p:sp>
      <p:sp>
        <p:nvSpPr>
          <p:cNvPr id="9" name="Text 6"/>
          <p:cNvSpPr/>
          <p:nvPr/>
        </p:nvSpPr>
        <p:spPr>
          <a:xfrm>
            <a:off x="6995160" y="2286000"/>
            <a:ext cx="2743200" cy="3657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Quantity  ↔  TotalAmount</a:t>
            </a:r>
            <a:endParaRPr lang="en-US" sz="1200" dirty="0"/>
          </a:p>
        </p:txBody>
      </p:sp>
      <p:sp>
        <p:nvSpPr>
          <p:cNvPr id="10" name="Shape 7"/>
          <p:cNvSpPr/>
          <p:nvPr/>
        </p:nvSpPr>
        <p:spPr>
          <a:xfrm>
            <a:off x="9829800" y="2313432"/>
            <a:ext cx="1463040" cy="320040"/>
          </a:xfrm>
          <a:prstGeom prst="roundRect">
            <a:avLst>
              <a:gd name="adj" fmla="val 17143"/>
            </a:avLst>
          </a:prstGeom>
          <a:solidFill>
            <a:srgbClr val="3B6EA5"/>
          </a:solidFill>
          <a:ln/>
        </p:spPr>
      </p:sp>
      <p:sp>
        <p:nvSpPr>
          <p:cNvPr id="11" name="Text 8"/>
          <p:cNvSpPr/>
          <p:nvPr/>
        </p:nvSpPr>
        <p:spPr>
          <a:xfrm>
            <a:off x="9829800" y="2313432"/>
            <a:ext cx="1463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0.30</a:t>
            </a:r>
            <a:endParaRPr lang="en-US" sz="1200" dirty="0"/>
          </a:p>
        </p:txBody>
      </p:sp>
      <p:sp>
        <p:nvSpPr>
          <p:cNvPr id="12" name="Text 9"/>
          <p:cNvSpPr/>
          <p:nvPr/>
        </p:nvSpPr>
        <p:spPr>
          <a:xfrm>
            <a:off x="6995160" y="2999232"/>
            <a:ext cx="2743200" cy="3657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Price  ↔  TotalAmount</a:t>
            </a:r>
            <a:endParaRPr lang="en-US" sz="1200" dirty="0"/>
          </a:p>
        </p:txBody>
      </p:sp>
      <p:sp>
        <p:nvSpPr>
          <p:cNvPr id="13" name="Shape 10"/>
          <p:cNvSpPr/>
          <p:nvPr/>
        </p:nvSpPr>
        <p:spPr>
          <a:xfrm>
            <a:off x="9829800" y="3026664"/>
            <a:ext cx="1463040" cy="320040"/>
          </a:xfrm>
          <a:prstGeom prst="roundRect">
            <a:avLst>
              <a:gd name="adj" fmla="val 17143"/>
            </a:avLst>
          </a:prstGeom>
          <a:solidFill>
            <a:srgbClr val="1F2A44"/>
          </a:solidFill>
          <a:ln/>
        </p:spPr>
      </p:sp>
      <p:sp>
        <p:nvSpPr>
          <p:cNvPr id="14" name="Text 11"/>
          <p:cNvSpPr/>
          <p:nvPr/>
        </p:nvSpPr>
        <p:spPr>
          <a:xfrm>
            <a:off x="9829800" y="3026664"/>
            <a:ext cx="1463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1.00</a:t>
            </a:r>
            <a:endParaRPr lang="en-US" sz="1200" dirty="0"/>
          </a:p>
        </p:txBody>
      </p:sp>
      <p:sp>
        <p:nvSpPr>
          <p:cNvPr id="15" name="Text 12"/>
          <p:cNvSpPr/>
          <p:nvPr/>
        </p:nvSpPr>
        <p:spPr>
          <a:xfrm>
            <a:off x="6995160" y="3712464"/>
            <a:ext cx="2743200" cy="3657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Quantity  ↔  Price</a:t>
            </a:r>
            <a:endParaRPr lang="en-US" sz="1200" dirty="0"/>
          </a:p>
        </p:txBody>
      </p:sp>
      <p:sp>
        <p:nvSpPr>
          <p:cNvPr id="16" name="Shape 13"/>
          <p:cNvSpPr/>
          <p:nvPr/>
        </p:nvSpPr>
        <p:spPr>
          <a:xfrm>
            <a:off x="9829800" y="3739896"/>
            <a:ext cx="1463040" cy="320040"/>
          </a:xfrm>
          <a:prstGeom prst="roundRect">
            <a:avLst>
              <a:gd name="adj" fmla="val 17143"/>
            </a:avLst>
          </a:prstGeom>
          <a:solidFill>
            <a:srgbClr val="B9C7DE"/>
          </a:solidFill>
          <a:ln/>
        </p:spPr>
      </p:sp>
      <p:sp>
        <p:nvSpPr>
          <p:cNvPr id="17" name="Text 14"/>
          <p:cNvSpPr/>
          <p:nvPr/>
        </p:nvSpPr>
        <p:spPr>
          <a:xfrm>
            <a:off x="9829800" y="3739896"/>
            <a:ext cx="1463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-0.01</a:t>
            </a:r>
            <a:endParaRPr lang="en-US" sz="1200" dirty="0"/>
          </a:p>
        </p:txBody>
      </p:sp>
      <p:sp>
        <p:nvSpPr>
          <p:cNvPr id="18" name="Text 15"/>
          <p:cNvSpPr/>
          <p:nvPr/>
        </p:nvSpPr>
        <p:spPr>
          <a:xfrm>
            <a:off x="6995160" y="4251960"/>
            <a:ext cx="4389120" cy="457200"/>
          </a:xfrm>
          <a:prstGeom prst="rect">
            <a:avLst/>
          </a:prstGeom>
          <a:noFill/>
          <a:ln/>
        </p:spPr>
        <p:txBody>
          <a:bodyPr wrap="square"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Order revenue is driven almost entirely by unit price, not bulk quantity — a key signal for pricing strategy.</a:t>
            </a:r>
            <a:endParaRPr lang="en-US" sz="1100" dirty="0"/>
          </a:p>
        </p:txBody>
      </p:sp>
      <p:sp>
        <p:nvSpPr>
          <p:cNvPr id="19" name="Shape 16"/>
          <p:cNvSpPr/>
          <p:nvPr/>
        </p:nvSpPr>
        <p:spPr>
          <a:xfrm>
            <a:off x="548640" y="5074920"/>
            <a:ext cx="411480" cy="411480"/>
          </a:xfrm>
          <a:prstGeom prst="ellipse">
            <a:avLst/>
          </a:prstGeom>
          <a:solidFill>
            <a:srgbClr val="E9C46A"/>
          </a:solidFill>
          <a:ln/>
        </p:spPr>
      </p:sp>
      <p:pic>
        <p:nvPicPr>
          <p:cNvPr id="20" name="Image 0" descr="preencoded.png"/>
          <p:cNvPicPr>
            <a:picLocks noChangeAspect="1"/>
          </p:cNvPicPr>
          <p:nvPr/>
        </p:nvPicPr>
        <p:blipFill>
          <a:blip r:embed="rId4"/>
          <a:stretch>
            <a:fillRect/>
          </a:stretch>
        </p:blipFill>
        <p:spPr>
          <a:xfrm>
            <a:off x="655625" y="5181905"/>
            <a:ext cx="197510" cy="197510"/>
          </a:xfrm>
          <a:prstGeom prst="rect">
            <a:avLst/>
          </a:prstGeom>
        </p:spPr>
      </p:pic>
      <p:sp>
        <p:nvSpPr>
          <p:cNvPr id="21" name="Text 17"/>
          <p:cNvSpPr/>
          <p:nvPr/>
        </p:nvSpPr>
        <p:spPr>
          <a:xfrm>
            <a:off x="1143000" y="5074920"/>
            <a:ext cx="5120640" cy="822960"/>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Revenue is heavily concentrated in the United Kingdom, with a long tail across 40 other countries</a:t>
            </a:r>
            <a:endParaRPr lang="en-US" sz="1250" dirty="0"/>
          </a:p>
        </p:txBody>
      </p:sp>
      <p:sp>
        <p:nvSpPr>
          <p:cNvPr id="22" name="Shape 18"/>
          <p:cNvSpPr/>
          <p:nvPr/>
        </p:nvSpPr>
        <p:spPr>
          <a:xfrm>
            <a:off x="6355080" y="5074920"/>
            <a:ext cx="411480" cy="411480"/>
          </a:xfrm>
          <a:prstGeom prst="ellipse">
            <a:avLst/>
          </a:prstGeom>
          <a:solidFill>
            <a:srgbClr val="2A9D8F"/>
          </a:solidFill>
          <a:ln/>
        </p:spPr>
      </p:sp>
      <p:pic>
        <p:nvPicPr>
          <p:cNvPr id="23" name="Image 1" descr="preencoded.png"/>
          <p:cNvPicPr>
            <a:picLocks noChangeAspect="1"/>
          </p:cNvPicPr>
          <p:nvPr/>
        </p:nvPicPr>
        <p:blipFill>
          <a:blip r:embed="rId4"/>
          <a:stretch>
            <a:fillRect/>
          </a:stretch>
        </p:blipFill>
        <p:spPr>
          <a:xfrm>
            <a:off x="6462065" y="5181905"/>
            <a:ext cx="197510" cy="197510"/>
          </a:xfrm>
          <a:prstGeom prst="rect">
            <a:avLst/>
          </a:prstGeom>
        </p:spPr>
      </p:pic>
      <p:sp>
        <p:nvSpPr>
          <p:cNvPr id="24" name="Text 19"/>
          <p:cNvSpPr/>
          <p:nvPr/>
        </p:nvSpPr>
        <p:spPr>
          <a:xfrm>
            <a:off x="6949440" y="5074920"/>
            <a:ext cx="5120640" cy="822960"/>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Order values are right-skewed — most orders are modest, with a few large bulk/B2B-style outliers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Customer Segmentation</a:t>
            </a:r>
            <a:endParaRPr lang="en-US" sz="30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RFM features (Recency, Frequency, Monetary)  →  K-Means clustering (k = 4)</a:t>
            </a:r>
            <a:endParaRPr lang="en-US" sz="1400" dirty="0"/>
          </a:p>
        </p:txBody>
      </p:sp>
      <p:sp>
        <p:nvSpPr>
          <p:cNvPr id="4" name="Shape 2"/>
          <p:cNvSpPr/>
          <p:nvPr/>
        </p:nvSpPr>
        <p:spPr>
          <a:xfrm>
            <a:off x="548640" y="1600200"/>
            <a:ext cx="2606040" cy="2468880"/>
          </a:xfrm>
          <a:prstGeom prst="roundRect">
            <a:avLst>
              <a:gd name="adj" fmla="val 2963"/>
            </a:avLst>
          </a:prstGeom>
          <a:solidFill>
            <a:srgbClr val="FFFFFF"/>
          </a:solidFill>
          <a:ln/>
          <a:effectLst>
            <a:outerShdw blurRad="101600" dist="38100" dir="5400000" algn="bl" rotWithShape="0">
              <a:srgbClr val="1F2A44">
                <a:alpha val="10000"/>
              </a:srgbClr>
            </a:outerShdw>
          </a:effectLst>
        </p:spPr>
      </p:sp>
      <p:sp>
        <p:nvSpPr>
          <p:cNvPr id="5" name="Shape 3"/>
          <p:cNvSpPr/>
          <p:nvPr/>
        </p:nvSpPr>
        <p:spPr>
          <a:xfrm>
            <a:off x="548640" y="1600200"/>
            <a:ext cx="2606040" cy="502920"/>
          </a:xfrm>
          <a:prstGeom prst="roundRect">
            <a:avLst>
              <a:gd name="adj" fmla="val 14545"/>
            </a:avLst>
          </a:prstGeom>
          <a:solidFill>
            <a:srgbClr val="1F2A44"/>
          </a:solidFill>
          <a:ln/>
        </p:spPr>
      </p:sp>
      <p:sp>
        <p:nvSpPr>
          <p:cNvPr id="6" name="Shape 4"/>
          <p:cNvSpPr/>
          <p:nvPr/>
        </p:nvSpPr>
        <p:spPr>
          <a:xfrm>
            <a:off x="548640" y="1874520"/>
            <a:ext cx="2606040" cy="228600"/>
          </a:xfrm>
          <a:prstGeom prst="rect">
            <a:avLst/>
          </a:prstGeom>
          <a:solidFill>
            <a:srgbClr val="1F2A44"/>
          </a:solidFill>
          <a:ln/>
        </p:spPr>
      </p:sp>
      <p:sp>
        <p:nvSpPr>
          <p:cNvPr id="7" name="Text 5"/>
          <p:cNvSpPr/>
          <p:nvPr/>
        </p:nvSpPr>
        <p:spPr>
          <a:xfrm>
            <a:off x="548640" y="1600200"/>
            <a:ext cx="26060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High Value</a:t>
            </a:r>
            <a:endParaRPr lang="en-US" sz="1400" dirty="0"/>
          </a:p>
        </p:txBody>
      </p:sp>
      <p:sp>
        <p:nvSpPr>
          <p:cNvPr id="8" name="Text 6"/>
          <p:cNvSpPr/>
          <p:nvPr/>
        </p:nvSpPr>
        <p:spPr>
          <a:xfrm>
            <a:off x="731520" y="2286000"/>
            <a:ext cx="2240280" cy="1691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Highest spend, most frequent, most recent. Few in number, outsized revenue share.</a:t>
            </a:r>
            <a:endParaRPr lang="en-US" sz="1150" dirty="0"/>
          </a:p>
        </p:txBody>
      </p:sp>
      <p:sp>
        <p:nvSpPr>
          <p:cNvPr id="9" name="Shape 7"/>
          <p:cNvSpPr/>
          <p:nvPr/>
        </p:nvSpPr>
        <p:spPr>
          <a:xfrm>
            <a:off x="3383280" y="1600200"/>
            <a:ext cx="2606040" cy="2468880"/>
          </a:xfrm>
          <a:prstGeom prst="roundRect">
            <a:avLst>
              <a:gd name="adj" fmla="val 2963"/>
            </a:avLst>
          </a:prstGeom>
          <a:solidFill>
            <a:srgbClr val="FFFFFF"/>
          </a:solidFill>
          <a:ln/>
          <a:effectLst>
            <a:outerShdw blurRad="101600" dist="38100" dir="5400000" algn="bl" rotWithShape="0">
              <a:srgbClr val="1F2A44">
                <a:alpha val="10000"/>
              </a:srgbClr>
            </a:outerShdw>
          </a:effectLst>
        </p:spPr>
      </p:sp>
      <p:sp>
        <p:nvSpPr>
          <p:cNvPr id="10" name="Shape 8"/>
          <p:cNvSpPr/>
          <p:nvPr/>
        </p:nvSpPr>
        <p:spPr>
          <a:xfrm>
            <a:off x="3383280" y="1600200"/>
            <a:ext cx="2606040" cy="502920"/>
          </a:xfrm>
          <a:prstGeom prst="roundRect">
            <a:avLst>
              <a:gd name="adj" fmla="val 14545"/>
            </a:avLst>
          </a:prstGeom>
          <a:solidFill>
            <a:srgbClr val="3B6EA5"/>
          </a:solidFill>
          <a:ln/>
        </p:spPr>
      </p:sp>
      <p:sp>
        <p:nvSpPr>
          <p:cNvPr id="11" name="Shape 9"/>
          <p:cNvSpPr/>
          <p:nvPr/>
        </p:nvSpPr>
        <p:spPr>
          <a:xfrm>
            <a:off x="3383280" y="1874520"/>
            <a:ext cx="2606040" cy="228600"/>
          </a:xfrm>
          <a:prstGeom prst="rect">
            <a:avLst/>
          </a:prstGeom>
          <a:solidFill>
            <a:srgbClr val="3B6EA5"/>
          </a:solidFill>
          <a:ln/>
        </p:spPr>
      </p:sp>
      <p:sp>
        <p:nvSpPr>
          <p:cNvPr id="12" name="Text 10"/>
          <p:cNvSpPr/>
          <p:nvPr/>
        </p:nvSpPr>
        <p:spPr>
          <a:xfrm>
            <a:off x="3383280" y="1600200"/>
            <a:ext cx="26060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Loyal Customers</a:t>
            </a:r>
            <a:endParaRPr lang="en-US" sz="1400" dirty="0"/>
          </a:p>
        </p:txBody>
      </p:sp>
      <p:sp>
        <p:nvSpPr>
          <p:cNvPr id="13" name="Text 11"/>
          <p:cNvSpPr/>
          <p:nvPr/>
        </p:nvSpPr>
        <p:spPr>
          <a:xfrm>
            <a:off x="3566160" y="2286000"/>
            <a:ext cx="2240280" cy="1691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Frequent buyers with solid, consistent spend over time.</a:t>
            </a:r>
            <a:endParaRPr lang="en-US" sz="1150" dirty="0"/>
          </a:p>
        </p:txBody>
      </p:sp>
      <p:sp>
        <p:nvSpPr>
          <p:cNvPr id="14" name="Shape 12"/>
          <p:cNvSpPr/>
          <p:nvPr/>
        </p:nvSpPr>
        <p:spPr>
          <a:xfrm>
            <a:off x="6217920" y="1600200"/>
            <a:ext cx="2606040" cy="2468880"/>
          </a:xfrm>
          <a:prstGeom prst="roundRect">
            <a:avLst>
              <a:gd name="adj" fmla="val 2963"/>
            </a:avLst>
          </a:prstGeom>
          <a:solidFill>
            <a:srgbClr val="FFFFFF"/>
          </a:solidFill>
          <a:ln/>
          <a:effectLst>
            <a:outerShdw blurRad="101600" dist="38100" dir="5400000" algn="bl" rotWithShape="0">
              <a:srgbClr val="1F2A44">
                <a:alpha val="10000"/>
              </a:srgbClr>
            </a:outerShdw>
          </a:effectLst>
        </p:spPr>
      </p:sp>
      <p:sp>
        <p:nvSpPr>
          <p:cNvPr id="15" name="Shape 13"/>
          <p:cNvSpPr/>
          <p:nvPr/>
        </p:nvSpPr>
        <p:spPr>
          <a:xfrm>
            <a:off x="6217920" y="1600200"/>
            <a:ext cx="2606040" cy="502920"/>
          </a:xfrm>
          <a:prstGeom prst="roundRect">
            <a:avLst>
              <a:gd name="adj" fmla="val 14545"/>
            </a:avLst>
          </a:prstGeom>
          <a:solidFill>
            <a:srgbClr val="2A9D8F"/>
          </a:solidFill>
          <a:ln/>
        </p:spPr>
      </p:sp>
      <p:sp>
        <p:nvSpPr>
          <p:cNvPr id="16" name="Shape 14"/>
          <p:cNvSpPr/>
          <p:nvPr/>
        </p:nvSpPr>
        <p:spPr>
          <a:xfrm>
            <a:off x="6217920" y="1874520"/>
            <a:ext cx="2606040" cy="228600"/>
          </a:xfrm>
          <a:prstGeom prst="rect">
            <a:avLst/>
          </a:prstGeom>
          <a:solidFill>
            <a:srgbClr val="2A9D8F"/>
          </a:solidFill>
          <a:ln/>
        </p:spPr>
      </p:sp>
      <p:sp>
        <p:nvSpPr>
          <p:cNvPr id="17" name="Text 15"/>
          <p:cNvSpPr/>
          <p:nvPr/>
        </p:nvSpPr>
        <p:spPr>
          <a:xfrm>
            <a:off x="6217920" y="1600200"/>
            <a:ext cx="26060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Regular Customers</a:t>
            </a:r>
            <a:endParaRPr lang="en-US" sz="1400" dirty="0"/>
          </a:p>
        </p:txBody>
      </p:sp>
      <p:sp>
        <p:nvSpPr>
          <p:cNvPr id="18" name="Text 16"/>
          <p:cNvSpPr/>
          <p:nvPr/>
        </p:nvSpPr>
        <p:spPr>
          <a:xfrm>
            <a:off x="6400800" y="2286000"/>
            <a:ext cx="2240280" cy="1691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Average activity across recency, frequency and spend.</a:t>
            </a:r>
            <a:endParaRPr lang="en-US" sz="1150" dirty="0"/>
          </a:p>
        </p:txBody>
      </p:sp>
      <p:sp>
        <p:nvSpPr>
          <p:cNvPr id="19" name="Shape 17"/>
          <p:cNvSpPr/>
          <p:nvPr/>
        </p:nvSpPr>
        <p:spPr>
          <a:xfrm>
            <a:off x="9052560" y="1600200"/>
            <a:ext cx="2606040" cy="2468880"/>
          </a:xfrm>
          <a:prstGeom prst="roundRect">
            <a:avLst>
              <a:gd name="adj" fmla="val 2963"/>
            </a:avLst>
          </a:prstGeom>
          <a:solidFill>
            <a:srgbClr val="FFFFFF"/>
          </a:solidFill>
          <a:ln/>
          <a:effectLst>
            <a:outerShdw blurRad="101600" dist="38100" dir="5400000" algn="bl" rotWithShape="0">
              <a:srgbClr val="1F2A44">
                <a:alpha val="10000"/>
              </a:srgbClr>
            </a:outerShdw>
          </a:effectLst>
        </p:spPr>
      </p:sp>
      <p:sp>
        <p:nvSpPr>
          <p:cNvPr id="20" name="Shape 18"/>
          <p:cNvSpPr/>
          <p:nvPr/>
        </p:nvSpPr>
        <p:spPr>
          <a:xfrm>
            <a:off x="9052560" y="1600200"/>
            <a:ext cx="2606040" cy="502920"/>
          </a:xfrm>
          <a:prstGeom prst="roundRect">
            <a:avLst>
              <a:gd name="adj" fmla="val 14545"/>
            </a:avLst>
          </a:prstGeom>
          <a:solidFill>
            <a:srgbClr val="E76F51"/>
          </a:solidFill>
          <a:ln/>
        </p:spPr>
      </p:sp>
      <p:sp>
        <p:nvSpPr>
          <p:cNvPr id="21" name="Shape 19"/>
          <p:cNvSpPr/>
          <p:nvPr/>
        </p:nvSpPr>
        <p:spPr>
          <a:xfrm>
            <a:off x="9052560" y="1874520"/>
            <a:ext cx="2606040" cy="228600"/>
          </a:xfrm>
          <a:prstGeom prst="rect">
            <a:avLst/>
          </a:prstGeom>
          <a:solidFill>
            <a:srgbClr val="E76F51"/>
          </a:solidFill>
          <a:ln/>
        </p:spPr>
      </p:sp>
      <p:sp>
        <p:nvSpPr>
          <p:cNvPr id="22" name="Text 20"/>
          <p:cNvSpPr/>
          <p:nvPr/>
        </p:nvSpPr>
        <p:spPr>
          <a:xfrm>
            <a:off x="9052560" y="1600200"/>
            <a:ext cx="26060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Risk</a:t>
            </a:r>
            <a:endParaRPr lang="en-US" sz="1400" dirty="0"/>
          </a:p>
        </p:txBody>
      </p:sp>
      <p:sp>
        <p:nvSpPr>
          <p:cNvPr id="23" name="Text 21"/>
          <p:cNvSpPr/>
          <p:nvPr/>
        </p:nvSpPr>
        <p:spPr>
          <a:xfrm>
            <a:off x="9235440" y="2286000"/>
            <a:ext cx="2240280" cy="1691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Long time since last purchase, low frequency — re-engagement candidates.</a:t>
            </a:r>
            <a:endParaRPr lang="en-US" sz="1150" dirty="0"/>
          </a:p>
        </p:txBody>
      </p:sp>
      <p:sp>
        <p:nvSpPr>
          <p:cNvPr id="24" name="Shape 22"/>
          <p:cNvSpPr/>
          <p:nvPr/>
        </p:nvSpPr>
        <p:spPr>
          <a:xfrm>
            <a:off x="548640" y="4297680"/>
            <a:ext cx="10835640" cy="1737360"/>
          </a:xfrm>
          <a:prstGeom prst="roundRect">
            <a:avLst>
              <a:gd name="adj" fmla="val 4211"/>
            </a:avLst>
          </a:prstGeom>
          <a:solidFill>
            <a:srgbClr val="EAF1FA"/>
          </a:solidFill>
          <a:ln/>
        </p:spPr>
      </p:sp>
      <p:sp>
        <p:nvSpPr>
          <p:cNvPr id="25" name="Shape 23"/>
          <p:cNvSpPr/>
          <p:nvPr/>
        </p:nvSpPr>
        <p:spPr>
          <a:xfrm>
            <a:off x="868680" y="4544568"/>
            <a:ext cx="502920" cy="502920"/>
          </a:xfrm>
          <a:prstGeom prst="ellipse">
            <a:avLst/>
          </a:prstGeom>
          <a:solidFill>
            <a:srgbClr val="3B6EA5"/>
          </a:solidFill>
          <a:ln/>
        </p:spPr>
      </p:sp>
      <p:pic>
        <p:nvPicPr>
          <p:cNvPr id="26" name="Image 0" descr="preencoded.png"/>
          <p:cNvPicPr>
            <a:picLocks noChangeAspect="1"/>
          </p:cNvPicPr>
          <p:nvPr/>
        </p:nvPicPr>
        <p:blipFill>
          <a:blip r:embed="rId3"/>
          <a:stretch>
            <a:fillRect/>
          </a:stretch>
        </p:blipFill>
        <p:spPr>
          <a:xfrm>
            <a:off x="999439" y="4675327"/>
            <a:ext cx="241402" cy="241402"/>
          </a:xfrm>
          <a:prstGeom prst="rect">
            <a:avLst/>
          </a:prstGeom>
        </p:spPr>
      </p:pic>
      <p:sp>
        <p:nvSpPr>
          <p:cNvPr id="27" name="Text 24"/>
          <p:cNvSpPr/>
          <p:nvPr/>
        </p:nvSpPr>
        <p:spPr>
          <a:xfrm>
            <a:off x="1508760" y="4572000"/>
            <a:ext cx="4572000" cy="365760"/>
          </a:xfrm>
          <a:prstGeom prst="rect">
            <a:avLst/>
          </a:prstGeom>
          <a:noFill/>
          <a:ln/>
        </p:spPr>
        <p:txBody>
          <a:bodyPr wrap="square"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Method &amp; Validation</a:t>
            </a:r>
            <a:endParaRPr lang="en-US" sz="1400" dirty="0"/>
          </a:p>
        </p:txBody>
      </p:sp>
      <p:sp>
        <p:nvSpPr>
          <p:cNvPr id="28" name="Text 25"/>
          <p:cNvSpPr/>
          <p:nvPr/>
        </p:nvSpPr>
        <p:spPr>
          <a:xfrm>
            <a:off x="1508760" y="4937760"/>
            <a:ext cx="9601200" cy="1005840"/>
          </a:xfrm>
          <a:prstGeom prst="rect">
            <a:avLst/>
          </a:prstGeom>
          <a:noFill/>
          <a:ln/>
        </p:spPr>
        <p:txBody>
          <a:bodyPr wrap="square" rtlCol="0" anchor="ctr"/>
          <a:lstStyle/>
          <a:p>
            <a:pPr marL="342900" indent="-342900">
              <a:spcAft>
                <a:spcPts val="400"/>
              </a:spcAft>
              <a:buSzPct val="100000"/>
              <a:buChar char="•"/>
            </a:pPr>
            <a:r>
              <a:rPr lang="en-US" sz="1250" dirty="0">
                <a:solidFill>
                  <a:srgbClr val="475569"/>
                </a:solidFill>
                <a:latin typeface="Calibri" pitchFamily="34" charset="0"/>
                <a:ea typeface="Calibri" pitchFamily="34" charset="-122"/>
                <a:cs typeface="Calibri" pitchFamily="34" charset="-120"/>
              </a:rPr>
              <a:t>Features standardized before clustering (K-Means is distance-based)</a:t>
            </a:r>
            <a:endParaRPr lang="en-US" sz="1250" dirty="0"/>
          </a:p>
          <a:p>
            <a:pPr marL="342900" indent="-342900">
              <a:spcAft>
                <a:spcPts val="400"/>
              </a:spcAft>
              <a:buSzPct val="100000"/>
              <a:buChar char="•"/>
            </a:pPr>
            <a:r>
              <a:rPr lang="en-US" sz="1250" dirty="0">
                <a:solidFill>
                  <a:srgbClr val="475569"/>
                </a:solidFill>
                <a:latin typeface="Calibri" pitchFamily="34" charset="0"/>
                <a:ea typeface="Calibri" pitchFamily="34" charset="-122"/>
                <a:cs typeface="Calibri" pitchFamily="34" charset="-120"/>
              </a:rPr>
              <a:t>Optimal k chosen via Elbow Method + Silhouette Score</a:t>
            </a:r>
            <a:endParaRPr lang="en-US" sz="1250" dirty="0"/>
          </a:p>
          <a:p>
            <a:pPr marL="342900" indent="-342900">
              <a:spcAft>
                <a:spcPts val="400"/>
              </a:spcAft>
              <a:buSzPct val="100000"/>
              <a:buChar char="•"/>
            </a:pPr>
            <a:r>
              <a:rPr lang="en-US" sz="1250" dirty="0">
                <a:solidFill>
                  <a:srgbClr val="475569"/>
                </a:solidFill>
                <a:latin typeface="Calibri" pitchFamily="34" charset="0"/>
                <a:ea typeface="Calibri" pitchFamily="34" charset="-122"/>
                <a:cs typeface="Calibri" pitchFamily="34" charset="-120"/>
              </a:rPr>
              <a:t>Segments named by Monetary rank — not arbitrary cluster IDs, which shift between runs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Churn Prediction</a:t>
            </a:r>
            <a:endParaRPr lang="en-US" sz="3000" dirty="0"/>
          </a:p>
        </p:txBody>
      </p:sp>
      <p:sp>
        <p:nvSpPr>
          <p:cNvPr id="3" name="Text 1"/>
          <p:cNvSpPr/>
          <p:nvPr/>
        </p:nvSpPr>
        <p:spPr>
          <a:xfrm>
            <a:off x="548640" y="1005840"/>
            <a:ext cx="10058400" cy="36576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Churn defined as 90+ days of inactivity  ·  1,458 of 4,383 customers (33.3%) flagged as churned</a:t>
            </a:r>
            <a:endParaRPr lang="en-US" sz="1400" dirty="0"/>
          </a:p>
        </p:txBody>
      </p:sp>
      <p:sp>
        <p:nvSpPr>
          <p:cNvPr id="4" name="Shape 2"/>
          <p:cNvSpPr/>
          <p:nvPr/>
        </p:nvSpPr>
        <p:spPr>
          <a:xfrm>
            <a:off x="548640" y="1554480"/>
            <a:ext cx="6035040" cy="4526280"/>
          </a:xfrm>
          <a:prstGeom prst="roundRect">
            <a:avLst>
              <a:gd name="adj" fmla="val 1616"/>
            </a:avLst>
          </a:prstGeom>
          <a:solidFill>
            <a:srgbClr val="FFFFFF"/>
          </a:solidFill>
          <a:ln/>
          <a:effectLst>
            <a:outerShdw blurRad="101600" dist="38100" dir="5400000" algn="bl" rotWithShape="0">
              <a:srgbClr val="1F2A44">
                <a:alpha val="10000"/>
              </a:srgbClr>
            </a:outerShdw>
          </a:effectLst>
        </p:spPr>
      </p:sp>
      <p:sp>
        <p:nvSpPr>
          <p:cNvPr id="5" name="Text 3"/>
          <p:cNvSpPr/>
          <p:nvPr/>
        </p:nvSpPr>
        <p:spPr>
          <a:xfrm>
            <a:off x="777240" y="1691640"/>
            <a:ext cx="5486400" cy="320040"/>
          </a:xfrm>
          <a:prstGeom prst="rect">
            <a:avLst/>
          </a:prstGeom>
          <a:noFill/>
          <a:ln/>
        </p:spPr>
        <p:txBody>
          <a:bodyPr wrap="square"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Model Performance Comparison</a:t>
            </a:r>
            <a:endParaRPr lang="en-US" sz="1300" dirty="0"/>
          </a:p>
        </p:txBody>
      </p:sp>
      <p:graphicFrame>
        <p:nvGraphicFramePr>
          <p:cNvPr id="6" name="Chart 0"/>
          <p:cNvGraphicFramePr/>
          <p:nvPr/>
        </p:nvGraphicFramePr>
        <p:xfrm>
          <a:off x="777240" y="2057400"/>
          <a:ext cx="55778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66560" y="1554480"/>
            <a:ext cx="4846320" cy="2148840"/>
          </a:xfrm>
          <a:prstGeom prst="roundRect">
            <a:avLst>
              <a:gd name="adj" fmla="val 3404"/>
            </a:avLst>
          </a:prstGeom>
          <a:solidFill>
            <a:srgbClr val="1F2A44"/>
          </a:solidFill>
          <a:ln/>
          <a:effectLst>
            <a:outerShdw blurRad="101600" dist="38100" dir="5400000" algn="bl" rotWithShape="0">
              <a:srgbClr val="1F2A44">
                <a:alpha val="10000"/>
              </a:srgbClr>
            </a:outerShdw>
          </a:effectLst>
        </p:spPr>
      </p:sp>
      <p:sp>
        <p:nvSpPr>
          <p:cNvPr id="8" name="Shape 5"/>
          <p:cNvSpPr/>
          <p:nvPr/>
        </p:nvSpPr>
        <p:spPr>
          <a:xfrm>
            <a:off x="6995160" y="1783080"/>
            <a:ext cx="502920" cy="502920"/>
          </a:xfrm>
          <a:prstGeom prst="ellipse">
            <a:avLst/>
          </a:prstGeom>
          <a:solidFill>
            <a:srgbClr val="2A9D8F"/>
          </a:solidFill>
          <a:ln/>
        </p:spPr>
      </p:sp>
      <p:pic>
        <p:nvPicPr>
          <p:cNvPr id="9" name="Image 0" descr="preencoded.png"/>
          <p:cNvPicPr>
            <a:picLocks noChangeAspect="1"/>
          </p:cNvPicPr>
          <p:nvPr/>
        </p:nvPicPr>
        <p:blipFill>
          <a:blip r:embed="rId4"/>
          <a:stretch>
            <a:fillRect/>
          </a:stretch>
        </p:blipFill>
        <p:spPr>
          <a:xfrm>
            <a:off x="7125919" y="1913839"/>
            <a:ext cx="241402" cy="241402"/>
          </a:xfrm>
          <a:prstGeom prst="rect">
            <a:avLst/>
          </a:prstGeom>
        </p:spPr>
      </p:pic>
      <p:sp>
        <p:nvSpPr>
          <p:cNvPr id="10" name="Text 6"/>
          <p:cNvSpPr/>
          <p:nvPr/>
        </p:nvSpPr>
        <p:spPr>
          <a:xfrm>
            <a:off x="7635240" y="1783080"/>
            <a:ext cx="3840480" cy="274320"/>
          </a:xfrm>
          <a:prstGeom prst="rect">
            <a:avLst/>
          </a:prstGeom>
          <a:noFill/>
          <a:ln/>
        </p:spPr>
        <p:txBody>
          <a:bodyPr wrap="square" rtlCol="0" anchor="ctr"/>
          <a:lstStyle/>
          <a:p>
            <a:pPr marL="0" indent="0">
              <a:buNone/>
            </a:pPr>
            <a:r>
              <a:rPr lang="en-US" sz="1100" dirty="0">
                <a:solidFill>
                  <a:srgbClr val="B9C7DE"/>
                </a:solidFill>
                <a:latin typeface="Calibri" pitchFamily="34" charset="0"/>
                <a:ea typeface="Calibri" pitchFamily="34" charset="-122"/>
                <a:cs typeface="Calibri" pitchFamily="34" charset="-120"/>
              </a:rPr>
              <a:t>Chosen for the live dashboard:</a:t>
            </a:r>
            <a:endParaRPr lang="en-US" sz="1100" dirty="0"/>
          </a:p>
        </p:txBody>
      </p:sp>
      <p:sp>
        <p:nvSpPr>
          <p:cNvPr id="11" name="Text 7"/>
          <p:cNvSpPr/>
          <p:nvPr/>
        </p:nvSpPr>
        <p:spPr>
          <a:xfrm>
            <a:off x="7635240" y="2057400"/>
            <a:ext cx="3840480" cy="4114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Logistic Regression</a:t>
            </a:r>
            <a:endParaRPr lang="en-US" sz="1900" dirty="0"/>
          </a:p>
        </p:txBody>
      </p:sp>
      <p:sp>
        <p:nvSpPr>
          <p:cNvPr id="12" name="Text 8"/>
          <p:cNvSpPr/>
          <p:nvPr/>
        </p:nvSpPr>
        <p:spPr>
          <a:xfrm>
            <a:off x="6995160" y="2606040"/>
            <a:ext cx="4389120" cy="1005840"/>
          </a:xfrm>
          <a:prstGeom prst="rect">
            <a:avLst/>
          </a:prstGeom>
          <a:noFill/>
          <a:ln/>
        </p:spPr>
        <p:txBody>
          <a:bodyPr wrap="square" rtlCol="0" anchor="ctr"/>
          <a:lstStyle/>
          <a:p>
            <a:pPr marL="0" indent="0">
              <a:buNone/>
            </a:pPr>
            <a:r>
              <a:rPr lang="en-US" sz="1150" dirty="0">
                <a:solidFill>
                  <a:srgbClr val="DCE6F5"/>
                </a:solidFill>
                <a:latin typeface="Calibri" pitchFamily="34" charset="0"/>
                <a:ea typeface="Calibri" pitchFamily="34" charset="-122"/>
                <a:cs typeface="Calibri" pitchFamily="34" charset="-120"/>
              </a:rPr>
              <a:t>Comparable accuracy to tuned Random Forest, but coefficients are directly interpretable — business users can see exactly which factor (Recency, Frequency, Monetary) drives each customer's risk.</a:t>
            </a:r>
            <a:endParaRPr lang="en-US" sz="1150" dirty="0"/>
          </a:p>
        </p:txBody>
      </p:sp>
      <p:sp>
        <p:nvSpPr>
          <p:cNvPr id="13" name="Shape 9"/>
          <p:cNvSpPr/>
          <p:nvPr/>
        </p:nvSpPr>
        <p:spPr>
          <a:xfrm>
            <a:off x="6766560" y="3886200"/>
            <a:ext cx="4846320" cy="2194560"/>
          </a:xfrm>
          <a:prstGeom prst="roundRect">
            <a:avLst>
              <a:gd name="adj" fmla="val 3333"/>
            </a:avLst>
          </a:prstGeom>
          <a:solidFill>
            <a:srgbClr val="FFFFFF"/>
          </a:solidFill>
          <a:ln/>
          <a:effectLst>
            <a:outerShdw blurRad="101600" dist="38100" dir="5400000" algn="bl" rotWithShape="0">
              <a:srgbClr val="1F2A44">
                <a:alpha val="10000"/>
              </a:srgbClr>
            </a:outerShdw>
          </a:effectLst>
        </p:spPr>
      </p:sp>
      <p:sp>
        <p:nvSpPr>
          <p:cNvPr id="14" name="Text 10"/>
          <p:cNvSpPr/>
          <p:nvPr/>
        </p:nvSpPr>
        <p:spPr>
          <a:xfrm>
            <a:off x="6995160" y="4023360"/>
            <a:ext cx="4389120" cy="320040"/>
          </a:xfrm>
          <a:prstGeom prst="rect">
            <a:avLst/>
          </a:prstGeom>
          <a:noFill/>
          <a:ln/>
        </p:spPr>
        <p:txBody>
          <a:bodyPr wrap="square"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Output isn't just a label</a:t>
            </a:r>
            <a:endParaRPr lang="en-US" sz="1300" dirty="0"/>
          </a:p>
        </p:txBody>
      </p:sp>
      <p:sp>
        <p:nvSpPr>
          <p:cNvPr id="15" name="Text 11"/>
          <p:cNvSpPr/>
          <p:nvPr/>
        </p:nvSpPr>
        <p:spPr>
          <a:xfrm>
            <a:off x="6995160" y="4389120"/>
            <a:ext cx="4434840" cy="1600200"/>
          </a:xfrm>
          <a:prstGeom prst="rect">
            <a:avLst/>
          </a:prstGeom>
          <a:noFill/>
          <a:ln/>
        </p:spPr>
        <p:txBody>
          <a:bodyPr wrap="square" rtlCol="0" anchor="ctr"/>
          <a:lstStyle/>
          <a:p>
            <a:pPr marL="342900" indent="-342900">
              <a:spcAft>
                <a:spcPts val="500"/>
              </a:spcAft>
              <a:buSzPct val="100000"/>
              <a:buChar char="•"/>
            </a:pPr>
            <a:r>
              <a:rPr lang="en-US" sz="1150" dirty="0">
                <a:solidFill>
                  <a:srgbClr val="475569"/>
                </a:solidFill>
                <a:latin typeface="Calibri" pitchFamily="34" charset="0"/>
                <a:ea typeface="Calibri" pitchFamily="34" charset="-122"/>
                <a:cs typeface="Calibri" pitchFamily="34" charset="-120"/>
              </a:rPr>
              <a:t>Every customer gets a churn probability score (0–100%), not just High/Low</a:t>
            </a:r>
            <a:endParaRPr lang="en-US" sz="1150" dirty="0"/>
          </a:p>
          <a:p>
            <a:pPr marL="342900" indent="-342900">
              <a:spcAft>
                <a:spcPts val="500"/>
              </a:spcAft>
              <a:buSzPct val="100000"/>
              <a:buChar char="•"/>
            </a:pPr>
            <a:r>
              <a:rPr lang="en-US" sz="1150" dirty="0">
                <a:solidFill>
                  <a:srgbClr val="475569"/>
                </a:solidFill>
                <a:latin typeface="Calibri" pitchFamily="34" charset="0"/>
                <a:ea typeface="Calibri" pitchFamily="34" charset="-122"/>
                <a:cs typeface="Calibri" pitchFamily="34" charset="-120"/>
              </a:rPr>
              <a:t>Evaluated on a held-out test split — not the training data</a:t>
            </a:r>
            <a:endParaRPr lang="en-US" sz="1150" dirty="0"/>
          </a:p>
          <a:p>
            <a:pPr marL="342900" indent="-342900">
              <a:spcAft>
                <a:spcPts val="500"/>
              </a:spcAft>
              <a:buSzPct val="100000"/>
              <a:buChar char="•"/>
            </a:pPr>
            <a:r>
              <a:rPr lang="en-US" sz="1150" dirty="0">
                <a:solidFill>
                  <a:srgbClr val="475569"/>
                </a:solidFill>
                <a:latin typeface="Calibri" pitchFamily="34" charset="0"/>
                <a:ea typeface="Calibri" pitchFamily="34" charset="-122"/>
                <a:cs typeface="Calibri" pitchFamily="34" charset="-120"/>
              </a:rPr>
              <a:t>Lets the business prioritize highest-value, highest-risk customers first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800" b="1" dirty="0">
                <a:solidFill>
                  <a:srgbClr val="1F2A44"/>
                </a:solidFill>
                <a:latin typeface="Cambria" pitchFamily="34" charset="0"/>
                <a:ea typeface="Cambria" pitchFamily="34" charset="-122"/>
                <a:cs typeface="Cambria" pitchFamily="34" charset="-120"/>
              </a:rPr>
              <a:t>Recommendations &amp; A/B Testing</a:t>
            </a:r>
            <a:endParaRPr lang="en-US" sz="28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Turning patterns into next actions</a:t>
            </a:r>
            <a:endParaRPr lang="en-US" sz="1400" dirty="0"/>
          </a:p>
        </p:txBody>
      </p:sp>
      <p:sp>
        <p:nvSpPr>
          <p:cNvPr id="4" name="Shape 2"/>
          <p:cNvSpPr/>
          <p:nvPr/>
        </p:nvSpPr>
        <p:spPr>
          <a:xfrm>
            <a:off x="548640" y="1554480"/>
            <a:ext cx="5349240" cy="4526280"/>
          </a:xfrm>
          <a:prstGeom prst="roundRect">
            <a:avLst>
              <a:gd name="adj" fmla="val 1616"/>
            </a:avLst>
          </a:prstGeom>
          <a:solidFill>
            <a:srgbClr val="FFFFFF"/>
          </a:solidFill>
          <a:ln/>
          <a:effectLst>
            <a:outerShdw blurRad="101600" dist="38100" dir="5400000" algn="bl" rotWithShape="0">
              <a:srgbClr val="1F2A44">
                <a:alpha val="10000"/>
              </a:srgbClr>
            </a:outerShdw>
          </a:effectLst>
        </p:spPr>
      </p:sp>
      <p:sp>
        <p:nvSpPr>
          <p:cNvPr id="5" name="Shape 3"/>
          <p:cNvSpPr/>
          <p:nvPr/>
        </p:nvSpPr>
        <p:spPr>
          <a:xfrm>
            <a:off x="822960" y="1783080"/>
            <a:ext cx="548640" cy="548640"/>
          </a:xfrm>
          <a:prstGeom prst="ellipse">
            <a:avLst/>
          </a:prstGeom>
          <a:solidFill>
            <a:srgbClr val="3B6EA5"/>
          </a:solidFill>
          <a:ln/>
        </p:spPr>
      </p:sp>
      <p:pic>
        <p:nvPicPr>
          <p:cNvPr id="6" name="Image 0" descr="preencoded.png"/>
          <p:cNvPicPr>
            <a:picLocks noChangeAspect="1"/>
          </p:cNvPicPr>
          <p:nvPr/>
        </p:nvPicPr>
        <p:blipFill>
          <a:blip r:embed="rId3"/>
          <a:stretch>
            <a:fillRect/>
          </a:stretch>
        </p:blipFill>
        <p:spPr>
          <a:xfrm>
            <a:off x="965606" y="1925726"/>
            <a:ext cx="263347" cy="263347"/>
          </a:xfrm>
          <a:prstGeom prst="rect">
            <a:avLst/>
          </a:prstGeom>
        </p:spPr>
      </p:pic>
      <p:sp>
        <p:nvSpPr>
          <p:cNvPr id="7" name="Text 4"/>
          <p:cNvSpPr/>
          <p:nvPr/>
        </p:nvSpPr>
        <p:spPr>
          <a:xfrm>
            <a:off x="1508760" y="1828800"/>
            <a:ext cx="4206240" cy="45720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Product Recommendation Engine</a:t>
            </a:r>
            <a:endParaRPr lang="en-US" sz="1500" dirty="0"/>
          </a:p>
        </p:txBody>
      </p:sp>
      <p:sp>
        <p:nvSpPr>
          <p:cNvPr id="8" name="Text 5"/>
          <p:cNvSpPr/>
          <p:nvPr/>
        </p:nvSpPr>
        <p:spPr>
          <a:xfrm>
            <a:off x="1508760" y="2212848"/>
            <a:ext cx="4206240" cy="274320"/>
          </a:xfrm>
          <a:prstGeom prst="rect">
            <a:avLst/>
          </a:prstGeom>
          <a:noFill/>
          <a:ln/>
        </p:spPr>
        <p:txBody>
          <a:bodyPr wrap="square"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Collaborative filtering · Cosine similarity</a:t>
            </a:r>
            <a:endParaRPr lang="en-US" sz="1100" dirty="0"/>
          </a:p>
        </p:txBody>
      </p:sp>
      <p:sp>
        <p:nvSpPr>
          <p:cNvPr id="9" name="Text 6"/>
          <p:cNvSpPr/>
          <p:nvPr/>
        </p:nvSpPr>
        <p:spPr>
          <a:xfrm>
            <a:off x="822960" y="2697480"/>
            <a:ext cx="4846320" cy="2377440"/>
          </a:xfrm>
          <a:prstGeom prst="rect">
            <a:avLst/>
          </a:prstGeom>
          <a:noFill/>
          <a:ln/>
        </p:spPr>
        <p:txBody>
          <a:bodyPr wrap="square" rtlCol="0" anchor="ctr"/>
          <a:lstStyle/>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Builds a customer × product purchase matrix</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Finds the 10 most similar customers by purchase pattern</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Recommends top-5 products they bought that the target customer hasn't</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Known limitation: cold-start for brand-new customers</a:t>
            </a:r>
            <a:endParaRPr lang="en-US" sz="1250" dirty="0"/>
          </a:p>
        </p:txBody>
      </p:sp>
      <p:sp>
        <p:nvSpPr>
          <p:cNvPr id="10" name="Shape 7"/>
          <p:cNvSpPr/>
          <p:nvPr/>
        </p:nvSpPr>
        <p:spPr>
          <a:xfrm>
            <a:off x="822960" y="5212080"/>
            <a:ext cx="4846320" cy="685800"/>
          </a:xfrm>
          <a:prstGeom prst="roundRect">
            <a:avLst>
              <a:gd name="adj" fmla="val 10667"/>
            </a:avLst>
          </a:prstGeom>
          <a:solidFill>
            <a:srgbClr val="EAF1FA"/>
          </a:solidFill>
          <a:ln/>
        </p:spPr>
      </p:sp>
      <p:sp>
        <p:nvSpPr>
          <p:cNvPr id="11" name="Text 8"/>
          <p:cNvSpPr/>
          <p:nvPr/>
        </p:nvSpPr>
        <p:spPr>
          <a:xfrm>
            <a:off x="1005840" y="5212080"/>
            <a:ext cx="4480560" cy="685800"/>
          </a:xfrm>
          <a:prstGeom prst="rect">
            <a:avLst/>
          </a:prstGeom>
          <a:noFill/>
          <a:ln/>
        </p:spPr>
        <p:txBody>
          <a:bodyPr wrap="square" rtlCol="0" anchor="ctr"/>
          <a:lstStyle/>
          <a:p>
            <a:pPr marL="0" indent="0">
              <a:buNone/>
            </a:pPr>
            <a:r>
              <a:rPr lang="en-US" sz="1150" i="1" dirty="0">
                <a:solidFill>
                  <a:srgbClr val="1F2A44"/>
                </a:solidFill>
                <a:latin typeface="Calibri" pitchFamily="34" charset="0"/>
                <a:ea typeface="Calibri" pitchFamily="34" charset="-122"/>
                <a:cs typeface="Calibri" pitchFamily="34" charset="-120"/>
              </a:rPr>
              <a:t>Top-5 recommendations live in the dashboard for any selected customer</a:t>
            </a:r>
            <a:endParaRPr lang="en-US" sz="1150" dirty="0"/>
          </a:p>
        </p:txBody>
      </p:sp>
      <p:sp>
        <p:nvSpPr>
          <p:cNvPr id="12" name="Shape 9"/>
          <p:cNvSpPr/>
          <p:nvPr/>
        </p:nvSpPr>
        <p:spPr>
          <a:xfrm>
            <a:off x="6080760" y="1554480"/>
            <a:ext cx="5532120" cy="4526280"/>
          </a:xfrm>
          <a:prstGeom prst="roundRect">
            <a:avLst>
              <a:gd name="adj" fmla="val 1616"/>
            </a:avLst>
          </a:prstGeom>
          <a:solidFill>
            <a:srgbClr val="FFFFFF"/>
          </a:solidFill>
          <a:ln/>
          <a:effectLst>
            <a:outerShdw blurRad="101600" dist="38100" dir="5400000" algn="bl" rotWithShape="0">
              <a:srgbClr val="1F2A44">
                <a:alpha val="10000"/>
              </a:srgbClr>
            </a:outerShdw>
          </a:effectLst>
        </p:spPr>
      </p:sp>
      <p:sp>
        <p:nvSpPr>
          <p:cNvPr id="13" name="Shape 10"/>
          <p:cNvSpPr/>
          <p:nvPr/>
        </p:nvSpPr>
        <p:spPr>
          <a:xfrm>
            <a:off x="6355080" y="1783080"/>
            <a:ext cx="548640" cy="548640"/>
          </a:xfrm>
          <a:prstGeom prst="ellipse">
            <a:avLst/>
          </a:prstGeom>
          <a:solidFill>
            <a:srgbClr val="E76F51"/>
          </a:solidFill>
          <a:ln/>
        </p:spPr>
      </p:sp>
      <p:pic>
        <p:nvPicPr>
          <p:cNvPr id="14" name="Image 1" descr="preencoded.png"/>
          <p:cNvPicPr>
            <a:picLocks noChangeAspect="1"/>
          </p:cNvPicPr>
          <p:nvPr/>
        </p:nvPicPr>
        <p:blipFill>
          <a:blip r:embed="rId4"/>
          <a:stretch>
            <a:fillRect/>
          </a:stretch>
        </p:blipFill>
        <p:spPr>
          <a:xfrm>
            <a:off x="6497726" y="1925726"/>
            <a:ext cx="263347" cy="263347"/>
          </a:xfrm>
          <a:prstGeom prst="rect">
            <a:avLst/>
          </a:prstGeom>
        </p:spPr>
      </p:pic>
      <p:sp>
        <p:nvSpPr>
          <p:cNvPr id="15" name="Text 11"/>
          <p:cNvSpPr/>
          <p:nvPr/>
        </p:nvSpPr>
        <p:spPr>
          <a:xfrm>
            <a:off x="7040880" y="1828800"/>
            <a:ext cx="4206240" cy="45720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A/B Test Simulation</a:t>
            </a:r>
            <a:endParaRPr lang="en-US" sz="1500" dirty="0"/>
          </a:p>
        </p:txBody>
      </p:sp>
      <p:sp>
        <p:nvSpPr>
          <p:cNvPr id="16" name="Text 12"/>
          <p:cNvSpPr/>
          <p:nvPr/>
        </p:nvSpPr>
        <p:spPr>
          <a:xfrm>
            <a:off x="7040880" y="2212848"/>
            <a:ext cx="4389120" cy="274320"/>
          </a:xfrm>
          <a:prstGeom prst="rect">
            <a:avLst/>
          </a:prstGeom>
          <a:noFill/>
          <a:ln/>
        </p:spPr>
        <p:txBody>
          <a:bodyPr wrap="square"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Welch's two-sample t-test across countries</a:t>
            </a:r>
            <a:endParaRPr lang="en-US" sz="1100" dirty="0"/>
          </a:p>
        </p:txBody>
      </p:sp>
      <p:sp>
        <p:nvSpPr>
          <p:cNvPr id="17" name="Text 13"/>
          <p:cNvSpPr/>
          <p:nvPr/>
        </p:nvSpPr>
        <p:spPr>
          <a:xfrm>
            <a:off x="6355080" y="2697480"/>
            <a:ext cx="5029200" cy="2194560"/>
          </a:xfrm>
          <a:prstGeom prst="rect">
            <a:avLst/>
          </a:prstGeom>
          <a:noFill/>
          <a:ln/>
        </p:spPr>
        <p:txBody>
          <a:bodyPr wrap="square" rtlCol="0" anchor="ctr"/>
          <a:lstStyle/>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Compares average order value between any two countries</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Welch's t-test — robust to unequal sample sizes &amp; variances</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α = 0.05 significance threshold, with full hypothesis writeup</a:t>
            </a:r>
            <a:endParaRPr lang="en-US" sz="1250" dirty="0"/>
          </a:p>
          <a:p>
            <a:pPr marL="342900" indent="-342900">
              <a:spcAft>
                <a:spcPts val="800"/>
              </a:spcAft>
              <a:buSzPct val="100000"/>
              <a:buChar char="•"/>
            </a:pPr>
            <a:r>
              <a:rPr lang="en-US" sz="1250" dirty="0">
                <a:solidFill>
                  <a:srgbClr val="475569"/>
                </a:solidFill>
                <a:latin typeface="Calibri" pitchFamily="34" charset="0"/>
                <a:ea typeface="Calibri" pitchFamily="34" charset="-122"/>
                <a:cs typeface="Calibri" pitchFamily="34" charset="-120"/>
              </a:rPr>
              <a:t>Built directly into the dashboard — pick any two countries live</a:t>
            </a:r>
            <a:endParaRPr lang="en-US" sz="1250" dirty="0"/>
          </a:p>
        </p:txBody>
      </p:sp>
      <p:sp>
        <p:nvSpPr>
          <p:cNvPr id="18" name="Shape 14"/>
          <p:cNvSpPr/>
          <p:nvPr/>
        </p:nvSpPr>
        <p:spPr>
          <a:xfrm>
            <a:off x="6355080" y="5029200"/>
            <a:ext cx="4983480" cy="868680"/>
          </a:xfrm>
          <a:prstGeom prst="roundRect">
            <a:avLst>
              <a:gd name="adj" fmla="val 8421"/>
            </a:avLst>
          </a:prstGeom>
          <a:solidFill>
            <a:srgbClr val="1F2A44"/>
          </a:solidFill>
          <a:ln/>
        </p:spPr>
      </p:sp>
      <p:sp>
        <p:nvSpPr>
          <p:cNvPr id="19" name="Text 15"/>
          <p:cNvSpPr/>
          <p:nvPr/>
        </p:nvSpPr>
        <p:spPr>
          <a:xfrm>
            <a:off x="6537960" y="5074920"/>
            <a:ext cx="4663440" cy="7772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H₀: Mean order value is equal between Group A and Group B</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Everything, in One Live Dashboard</a:t>
            </a:r>
            <a:endParaRPr lang="en-US" sz="28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dirty="0">
                <a:solidFill>
                  <a:srgbClr val="B9C7DE"/>
                </a:solidFill>
                <a:latin typeface="Calibri" pitchFamily="34" charset="0"/>
                <a:ea typeface="Calibri" pitchFamily="34" charset="-122"/>
                <a:cs typeface="Calibri" pitchFamily="34" charset="-120"/>
              </a:rPr>
              <a:t>Built with Streamlit · Deployed on Streamlit Community Cloud</a:t>
            </a:r>
            <a:endParaRPr lang="en-US" sz="1400" dirty="0"/>
          </a:p>
        </p:txBody>
      </p:sp>
      <p:sp>
        <p:nvSpPr>
          <p:cNvPr id="4" name="Shape 2"/>
          <p:cNvSpPr/>
          <p:nvPr/>
        </p:nvSpPr>
        <p:spPr>
          <a:xfrm>
            <a:off x="640080" y="1920240"/>
            <a:ext cx="384048" cy="384048"/>
          </a:xfrm>
          <a:prstGeom prst="ellipse">
            <a:avLst/>
          </a:prstGeom>
          <a:solidFill>
            <a:srgbClr val="2A9D8F"/>
          </a:solidFill>
          <a:ln/>
        </p:spPr>
      </p:sp>
      <p:pic>
        <p:nvPicPr>
          <p:cNvPr id="5" name="Image 0" descr="preencoded.png"/>
          <p:cNvPicPr>
            <a:picLocks noChangeAspect="1"/>
          </p:cNvPicPr>
          <p:nvPr/>
        </p:nvPicPr>
        <p:blipFill>
          <a:blip r:embed="rId3"/>
          <a:stretch>
            <a:fillRect/>
          </a:stretch>
        </p:blipFill>
        <p:spPr>
          <a:xfrm>
            <a:off x="739932" y="2020092"/>
            <a:ext cx="184343" cy="184343"/>
          </a:xfrm>
          <a:prstGeom prst="rect">
            <a:avLst/>
          </a:prstGeom>
        </p:spPr>
      </p:pic>
      <p:sp>
        <p:nvSpPr>
          <p:cNvPr id="6" name="Text 3"/>
          <p:cNvSpPr/>
          <p:nvPr/>
        </p:nvSpPr>
        <p:spPr>
          <a:xfrm>
            <a:off x="1188720" y="190195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Dynamic filters — date range, country, and category</a:t>
            </a:r>
            <a:endParaRPr lang="en-US" sz="1300" dirty="0"/>
          </a:p>
        </p:txBody>
      </p:sp>
      <p:sp>
        <p:nvSpPr>
          <p:cNvPr id="7" name="Shape 4"/>
          <p:cNvSpPr/>
          <p:nvPr/>
        </p:nvSpPr>
        <p:spPr>
          <a:xfrm>
            <a:off x="640080" y="2697480"/>
            <a:ext cx="384048" cy="384048"/>
          </a:xfrm>
          <a:prstGeom prst="ellipse">
            <a:avLst/>
          </a:prstGeom>
          <a:solidFill>
            <a:srgbClr val="2A9D8F"/>
          </a:solidFill>
          <a:ln/>
        </p:spPr>
      </p:sp>
      <p:pic>
        <p:nvPicPr>
          <p:cNvPr id="8" name="Image 1" descr="preencoded.png"/>
          <p:cNvPicPr>
            <a:picLocks noChangeAspect="1"/>
          </p:cNvPicPr>
          <p:nvPr/>
        </p:nvPicPr>
        <p:blipFill>
          <a:blip r:embed="rId3"/>
          <a:stretch>
            <a:fillRect/>
          </a:stretch>
        </p:blipFill>
        <p:spPr>
          <a:xfrm>
            <a:off x="739932" y="2797332"/>
            <a:ext cx="184343" cy="184343"/>
          </a:xfrm>
          <a:prstGeom prst="rect">
            <a:avLst/>
          </a:prstGeom>
        </p:spPr>
      </p:pic>
      <p:sp>
        <p:nvSpPr>
          <p:cNvPr id="9" name="Text 5"/>
          <p:cNvSpPr/>
          <p:nvPr/>
        </p:nvSpPr>
        <p:spPr>
          <a:xfrm>
            <a:off x="1188720" y="267919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Live KPI cards — revenue, customers, orders, AOV</a:t>
            </a:r>
            <a:endParaRPr lang="en-US" sz="1300" dirty="0"/>
          </a:p>
        </p:txBody>
      </p:sp>
      <p:sp>
        <p:nvSpPr>
          <p:cNvPr id="10" name="Shape 6"/>
          <p:cNvSpPr/>
          <p:nvPr/>
        </p:nvSpPr>
        <p:spPr>
          <a:xfrm>
            <a:off x="640080" y="3474720"/>
            <a:ext cx="384048" cy="384048"/>
          </a:xfrm>
          <a:prstGeom prst="ellipse">
            <a:avLst/>
          </a:prstGeom>
          <a:solidFill>
            <a:srgbClr val="2A9D8F"/>
          </a:solidFill>
          <a:ln/>
        </p:spPr>
      </p:sp>
      <p:pic>
        <p:nvPicPr>
          <p:cNvPr id="11" name="Image 2" descr="preencoded.png"/>
          <p:cNvPicPr>
            <a:picLocks noChangeAspect="1"/>
          </p:cNvPicPr>
          <p:nvPr/>
        </p:nvPicPr>
        <p:blipFill>
          <a:blip r:embed="rId3"/>
          <a:stretch>
            <a:fillRect/>
          </a:stretch>
        </p:blipFill>
        <p:spPr>
          <a:xfrm>
            <a:off x="739932" y="3574572"/>
            <a:ext cx="184343" cy="184343"/>
          </a:xfrm>
          <a:prstGeom prst="rect">
            <a:avLst/>
          </a:prstGeom>
        </p:spPr>
      </p:pic>
      <p:sp>
        <p:nvSpPr>
          <p:cNvPr id="12" name="Text 7"/>
          <p:cNvSpPr/>
          <p:nvPr/>
        </p:nvSpPr>
        <p:spPr>
          <a:xfrm>
            <a:off x="1188720" y="345643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Interactive EDA — trends, distributions, correlation heatmap</a:t>
            </a:r>
            <a:endParaRPr lang="en-US" sz="1300" dirty="0"/>
          </a:p>
        </p:txBody>
      </p:sp>
      <p:sp>
        <p:nvSpPr>
          <p:cNvPr id="13" name="Shape 8"/>
          <p:cNvSpPr/>
          <p:nvPr/>
        </p:nvSpPr>
        <p:spPr>
          <a:xfrm>
            <a:off x="6126480" y="1920240"/>
            <a:ext cx="384048" cy="384048"/>
          </a:xfrm>
          <a:prstGeom prst="ellipse">
            <a:avLst/>
          </a:prstGeom>
          <a:solidFill>
            <a:srgbClr val="2A9D8F"/>
          </a:solidFill>
          <a:ln/>
        </p:spPr>
      </p:sp>
      <p:pic>
        <p:nvPicPr>
          <p:cNvPr id="14" name="Image 3" descr="preencoded.png"/>
          <p:cNvPicPr>
            <a:picLocks noChangeAspect="1"/>
          </p:cNvPicPr>
          <p:nvPr/>
        </p:nvPicPr>
        <p:blipFill>
          <a:blip r:embed="rId3"/>
          <a:stretch>
            <a:fillRect/>
          </a:stretch>
        </p:blipFill>
        <p:spPr>
          <a:xfrm>
            <a:off x="6226332" y="2020092"/>
            <a:ext cx="184343" cy="184343"/>
          </a:xfrm>
          <a:prstGeom prst="rect">
            <a:avLst/>
          </a:prstGeom>
        </p:spPr>
      </p:pic>
      <p:sp>
        <p:nvSpPr>
          <p:cNvPr id="15" name="Text 9"/>
          <p:cNvSpPr/>
          <p:nvPr/>
        </p:nvSpPr>
        <p:spPr>
          <a:xfrm>
            <a:off x="6675120" y="190195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Segmentation, churn &amp; recommendation tabs</a:t>
            </a:r>
            <a:endParaRPr lang="en-US" sz="1300" dirty="0"/>
          </a:p>
        </p:txBody>
      </p:sp>
      <p:sp>
        <p:nvSpPr>
          <p:cNvPr id="16" name="Shape 10"/>
          <p:cNvSpPr/>
          <p:nvPr/>
        </p:nvSpPr>
        <p:spPr>
          <a:xfrm>
            <a:off x="6126480" y="2697480"/>
            <a:ext cx="384048" cy="384048"/>
          </a:xfrm>
          <a:prstGeom prst="ellipse">
            <a:avLst/>
          </a:prstGeom>
          <a:solidFill>
            <a:srgbClr val="2A9D8F"/>
          </a:solidFill>
          <a:ln/>
        </p:spPr>
      </p:sp>
      <p:pic>
        <p:nvPicPr>
          <p:cNvPr id="17" name="Image 4" descr="preencoded.png"/>
          <p:cNvPicPr>
            <a:picLocks noChangeAspect="1"/>
          </p:cNvPicPr>
          <p:nvPr/>
        </p:nvPicPr>
        <p:blipFill>
          <a:blip r:embed="rId3"/>
          <a:stretch>
            <a:fillRect/>
          </a:stretch>
        </p:blipFill>
        <p:spPr>
          <a:xfrm>
            <a:off x="6226332" y="2797332"/>
            <a:ext cx="184343" cy="184343"/>
          </a:xfrm>
          <a:prstGeom prst="rect">
            <a:avLst/>
          </a:prstGeom>
        </p:spPr>
      </p:pic>
      <p:sp>
        <p:nvSpPr>
          <p:cNvPr id="18" name="Text 11"/>
          <p:cNvSpPr/>
          <p:nvPr/>
        </p:nvSpPr>
        <p:spPr>
          <a:xfrm>
            <a:off x="6675120" y="267919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A/B testing tool with live hypothesis results</a:t>
            </a:r>
            <a:endParaRPr lang="en-US" sz="1300" dirty="0"/>
          </a:p>
        </p:txBody>
      </p:sp>
      <p:sp>
        <p:nvSpPr>
          <p:cNvPr id="19" name="Shape 12"/>
          <p:cNvSpPr/>
          <p:nvPr/>
        </p:nvSpPr>
        <p:spPr>
          <a:xfrm>
            <a:off x="6126480" y="3474720"/>
            <a:ext cx="384048" cy="384048"/>
          </a:xfrm>
          <a:prstGeom prst="ellipse">
            <a:avLst/>
          </a:prstGeom>
          <a:solidFill>
            <a:srgbClr val="2A9D8F"/>
          </a:solidFill>
          <a:ln/>
        </p:spPr>
      </p:sp>
      <p:pic>
        <p:nvPicPr>
          <p:cNvPr id="20" name="Image 5" descr="preencoded.png"/>
          <p:cNvPicPr>
            <a:picLocks noChangeAspect="1"/>
          </p:cNvPicPr>
          <p:nvPr/>
        </p:nvPicPr>
        <p:blipFill>
          <a:blip r:embed="rId3"/>
          <a:stretch>
            <a:fillRect/>
          </a:stretch>
        </p:blipFill>
        <p:spPr>
          <a:xfrm>
            <a:off x="6226332" y="3574572"/>
            <a:ext cx="184343" cy="184343"/>
          </a:xfrm>
          <a:prstGeom prst="rect">
            <a:avLst/>
          </a:prstGeom>
        </p:spPr>
      </p:pic>
      <p:sp>
        <p:nvSpPr>
          <p:cNvPr id="21" name="Text 13"/>
          <p:cNvSpPr/>
          <p:nvPr/>
        </p:nvSpPr>
        <p:spPr>
          <a:xfrm>
            <a:off x="6675120" y="3456432"/>
            <a:ext cx="4846320" cy="502920"/>
          </a:xfrm>
          <a:prstGeom prst="rect">
            <a:avLst/>
          </a:prstGeom>
          <a:noFill/>
          <a:ln/>
        </p:spPr>
        <p:txBody>
          <a:bodyPr wrap="square" rtlCol="0" anchor="ctr"/>
          <a:lstStyle/>
          <a:p>
            <a:pPr marL="0" indent="0">
              <a:buNone/>
            </a:pPr>
            <a:r>
              <a:rPr lang="en-US" sz="1300" dirty="0">
                <a:solidFill>
                  <a:srgbClr val="DCE6F5"/>
                </a:solidFill>
                <a:latin typeface="Calibri" pitchFamily="34" charset="0"/>
                <a:ea typeface="Calibri" pitchFamily="34" charset="-122"/>
                <a:cs typeface="Calibri" pitchFamily="34" charset="-120"/>
              </a:rPr>
              <a:t>One-click CSV export for segmentation &amp; churn reports</a:t>
            </a:r>
            <a:endParaRPr lang="en-US" sz="1300" dirty="0"/>
          </a:p>
        </p:txBody>
      </p:sp>
      <p:sp>
        <p:nvSpPr>
          <p:cNvPr id="22" name="Shape 14"/>
          <p:cNvSpPr/>
          <p:nvPr/>
        </p:nvSpPr>
        <p:spPr>
          <a:xfrm>
            <a:off x="640080" y="5715000"/>
            <a:ext cx="10881360" cy="777240"/>
          </a:xfrm>
          <a:prstGeom prst="roundRect">
            <a:avLst>
              <a:gd name="adj" fmla="val 9412"/>
            </a:avLst>
          </a:prstGeom>
          <a:solidFill>
            <a:srgbClr val="26345A"/>
          </a:solidFill>
          <a:ln/>
        </p:spPr>
      </p:sp>
      <p:sp>
        <p:nvSpPr>
          <p:cNvPr id="23" name="Text 15"/>
          <p:cNvSpPr/>
          <p:nvPr/>
        </p:nvSpPr>
        <p:spPr>
          <a:xfrm>
            <a:off x="914400" y="5715000"/>
            <a:ext cx="1463040" cy="777240"/>
          </a:xfrm>
          <a:prstGeom prst="rect">
            <a:avLst/>
          </a:prstGeom>
          <a:noFill/>
          <a:ln/>
        </p:spPr>
        <p:txBody>
          <a:bodyPr wrap="square"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Live URL:</a:t>
            </a:r>
            <a:endParaRPr lang="en-US" sz="1400" dirty="0"/>
          </a:p>
        </p:txBody>
      </p:sp>
      <p:sp>
        <p:nvSpPr>
          <p:cNvPr id="24" name="Text 16">
            <a:hlinkClick r:id="rId4"/>
          </p:cNvPr>
          <p:cNvSpPr/>
          <p:nvPr/>
        </p:nvSpPr>
        <p:spPr>
          <a:xfrm>
            <a:off x="2286000" y="5715000"/>
            <a:ext cx="8961120" cy="777240"/>
          </a:xfrm>
          <a:prstGeom prst="rect">
            <a:avLst/>
          </a:prstGeom>
          <a:noFill/>
          <a:ln/>
        </p:spPr>
        <p:txBody>
          <a:bodyPr wrap="square" rtlCol="0" anchor="ctr"/>
          <a:lstStyle/>
          <a:p>
            <a:r>
              <a:rPr lang="en-US" sz="1600" u="sng">
                <a:solidFill>
                  <a:srgbClr val="FFFFFF"/>
                </a:solidFill>
                <a:latin typeface="Calibri" pitchFamily="34" charset="0"/>
                <a:ea typeface="Calibri" pitchFamily="34" charset="-122"/>
                <a:cs typeface="Calibri" pitchFamily="34" charset="-120"/>
              </a:rPr>
              <a:t>https</a:t>
            </a:r>
            <a:r>
              <a:rPr lang="en-US" sz="1600" u="sng" dirty="0">
                <a:solidFill>
                  <a:srgbClr val="FFFFFF"/>
                </a:solidFill>
                <a:latin typeface="Calibri" pitchFamily="34" charset="0"/>
                <a:ea typeface="Calibri" pitchFamily="34" charset="-122"/>
                <a:cs typeface="Calibri" pitchFamily="34" charset="-120"/>
              </a:rPr>
              <a:t>://insightengine-customer-analytics.streamlit.app</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Key Business Insights</a:t>
            </a:r>
            <a:endParaRPr lang="en-US" sz="30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What the business should do with this</a:t>
            </a:r>
            <a:endParaRPr lang="en-US" sz="1400" dirty="0"/>
          </a:p>
        </p:txBody>
      </p:sp>
      <p:sp>
        <p:nvSpPr>
          <p:cNvPr id="4" name="Shape 2"/>
          <p:cNvSpPr/>
          <p:nvPr/>
        </p:nvSpPr>
        <p:spPr>
          <a:xfrm>
            <a:off x="548640" y="1600200"/>
            <a:ext cx="2606040" cy="2926080"/>
          </a:xfrm>
          <a:prstGeom prst="roundRect">
            <a:avLst>
              <a:gd name="adj" fmla="val 2807"/>
            </a:avLst>
          </a:prstGeom>
          <a:solidFill>
            <a:srgbClr val="FFFFFF"/>
          </a:solidFill>
          <a:ln/>
          <a:effectLst>
            <a:outerShdw blurRad="101600" dist="38100" dir="5400000" algn="bl" rotWithShape="0">
              <a:srgbClr val="1F2A44">
                <a:alpha val="10000"/>
              </a:srgbClr>
            </a:outerShdw>
          </a:effectLst>
        </p:spPr>
      </p:sp>
      <p:sp>
        <p:nvSpPr>
          <p:cNvPr id="5" name="Shape 3"/>
          <p:cNvSpPr/>
          <p:nvPr/>
        </p:nvSpPr>
        <p:spPr>
          <a:xfrm>
            <a:off x="731520" y="1783080"/>
            <a:ext cx="457200" cy="457200"/>
          </a:xfrm>
          <a:prstGeom prst="ellipse">
            <a:avLst/>
          </a:prstGeom>
          <a:solidFill>
            <a:srgbClr val="1F2A44"/>
          </a:solidFill>
          <a:ln/>
        </p:spPr>
      </p:sp>
      <p:pic>
        <p:nvPicPr>
          <p:cNvPr id="6" name="Image 0" descr="preencoded.png"/>
          <p:cNvPicPr>
            <a:picLocks noChangeAspect="1"/>
          </p:cNvPicPr>
          <p:nvPr/>
        </p:nvPicPr>
        <p:blipFill>
          <a:blip r:embed="rId3"/>
          <a:stretch>
            <a:fillRect/>
          </a:stretch>
        </p:blipFill>
        <p:spPr>
          <a:xfrm>
            <a:off x="850392" y="1901952"/>
            <a:ext cx="219456" cy="219456"/>
          </a:xfrm>
          <a:prstGeom prst="rect">
            <a:avLst/>
          </a:prstGeom>
        </p:spPr>
      </p:pic>
      <p:sp>
        <p:nvSpPr>
          <p:cNvPr id="7" name="Text 4"/>
          <p:cNvSpPr/>
          <p:nvPr/>
        </p:nvSpPr>
        <p:spPr>
          <a:xfrm>
            <a:off x="731520" y="2377440"/>
            <a:ext cx="2240280" cy="502920"/>
          </a:xfrm>
          <a:prstGeom prst="rect">
            <a:avLst/>
          </a:prstGeom>
          <a:noFill/>
          <a:ln/>
        </p:spPr>
        <p:txBody>
          <a:bodyPr wrap="square" rtlCol="0" anchor="ctr"/>
          <a:lstStyle/>
          <a:p>
            <a:pPr marL="0" indent="0">
              <a:buNone/>
            </a:pPr>
            <a:r>
              <a:rPr lang="en-US" sz="1350" b="1" dirty="0">
                <a:solidFill>
                  <a:srgbClr val="1F2A44"/>
                </a:solidFill>
                <a:latin typeface="Calibri" pitchFamily="34" charset="0"/>
                <a:ea typeface="Calibri" pitchFamily="34" charset="-122"/>
                <a:cs typeface="Calibri" pitchFamily="34" charset="-120"/>
              </a:rPr>
              <a:t>Protect the top tier</a:t>
            </a:r>
            <a:endParaRPr lang="en-US" sz="1350" dirty="0"/>
          </a:p>
        </p:txBody>
      </p:sp>
      <p:sp>
        <p:nvSpPr>
          <p:cNvPr id="8" name="Text 5"/>
          <p:cNvSpPr/>
          <p:nvPr/>
        </p:nvSpPr>
        <p:spPr>
          <a:xfrm>
            <a:off x="731520" y="2880360"/>
            <a:ext cx="2240280" cy="1554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High Value customers are few but drive disproportionate revenue (Pareto pattern) — retention beats acquisition spend here.</a:t>
            </a:r>
            <a:endParaRPr lang="en-US" sz="1100" dirty="0"/>
          </a:p>
        </p:txBody>
      </p:sp>
      <p:sp>
        <p:nvSpPr>
          <p:cNvPr id="9" name="Shape 6"/>
          <p:cNvSpPr/>
          <p:nvPr/>
        </p:nvSpPr>
        <p:spPr>
          <a:xfrm>
            <a:off x="3383280" y="1600200"/>
            <a:ext cx="2606040" cy="2926080"/>
          </a:xfrm>
          <a:prstGeom prst="roundRect">
            <a:avLst>
              <a:gd name="adj" fmla="val 2807"/>
            </a:avLst>
          </a:prstGeom>
          <a:solidFill>
            <a:srgbClr val="FFFFFF"/>
          </a:solidFill>
          <a:ln/>
          <a:effectLst>
            <a:outerShdw blurRad="101600" dist="38100" dir="5400000" algn="bl" rotWithShape="0">
              <a:srgbClr val="1F2A44">
                <a:alpha val="10000"/>
              </a:srgbClr>
            </a:outerShdw>
          </a:effectLst>
        </p:spPr>
      </p:sp>
      <p:sp>
        <p:nvSpPr>
          <p:cNvPr id="10" name="Shape 7"/>
          <p:cNvSpPr/>
          <p:nvPr/>
        </p:nvSpPr>
        <p:spPr>
          <a:xfrm>
            <a:off x="3566160" y="1783080"/>
            <a:ext cx="457200" cy="457200"/>
          </a:xfrm>
          <a:prstGeom prst="ellipse">
            <a:avLst/>
          </a:prstGeom>
          <a:solidFill>
            <a:srgbClr val="E76F51"/>
          </a:solidFill>
          <a:ln/>
        </p:spPr>
      </p:sp>
      <p:pic>
        <p:nvPicPr>
          <p:cNvPr id="11" name="Image 1" descr="preencoded.png"/>
          <p:cNvPicPr>
            <a:picLocks noChangeAspect="1"/>
          </p:cNvPicPr>
          <p:nvPr/>
        </p:nvPicPr>
        <p:blipFill>
          <a:blip r:embed="rId3"/>
          <a:stretch>
            <a:fillRect/>
          </a:stretch>
        </p:blipFill>
        <p:spPr>
          <a:xfrm>
            <a:off x="3685032" y="1901952"/>
            <a:ext cx="219456" cy="219456"/>
          </a:xfrm>
          <a:prstGeom prst="rect">
            <a:avLst/>
          </a:prstGeom>
        </p:spPr>
      </p:pic>
      <p:sp>
        <p:nvSpPr>
          <p:cNvPr id="12" name="Text 8"/>
          <p:cNvSpPr/>
          <p:nvPr/>
        </p:nvSpPr>
        <p:spPr>
          <a:xfrm>
            <a:off x="3566160" y="2377440"/>
            <a:ext cx="2240280" cy="502920"/>
          </a:xfrm>
          <a:prstGeom prst="rect">
            <a:avLst/>
          </a:prstGeom>
          <a:noFill/>
          <a:ln/>
        </p:spPr>
        <p:txBody>
          <a:bodyPr wrap="square" rtlCol="0" anchor="ctr"/>
          <a:lstStyle/>
          <a:p>
            <a:pPr marL="0" indent="0">
              <a:buNone/>
            </a:pPr>
            <a:r>
              <a:rPr lang="en-US" sz="1350" b="1" dirty="0">
                <a:solidFill>
                  <a:srgbClr val="1F2A44"/>
                </a:solidFill>
                <a:latin typeface="Calibri" pitchFamily="34" charset="0"/>
                <a:ea typeface="Calibri" pitchFamily="34" charset="-122"/>
                <a:cs typeface="Calibri" pitchFamily="34" charset="-120"/>
              </a:rPr>
              <a:t>Win back At Risk customers</a:t>
            </a:r>
            <a:endParaRPr lang="en-US" sz="1350" dirty="0"/>
          </a:p>
        </p:txBody>
      </p:sp>
      <p:sp>
        <p:nvSpPr>
          <p:cNvPr id="13" name="Text 9"/>
          <p:cNvSpPr/>
          <p:nvPr/>
        </p:nvSpPr>
        <p:spPr>
          <a:xfrm>
            <a:off x="3566160" y="2880360"/>
            <a:ext cx="2240280" cy="1554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This segment has high historical spend but rising recency — a targeted discount/email campaign is the highest-leverage move.</a:t>
            </a:r>
            <a:endParaRPr lang="en-US" sz="1100" dirty="0"/>
          </a:p>
        </p:txBody>
      </p:sp>
      <p:sp>
        <p:nvSpPr>
          <p:cNvPr id="14" name="Shape 10"/>
          <p:cNvSpPr/>
          <p:nvPr/>
        </p:nvSpPr>
        <p:spPr>
          <a:xfrm>
            <a:off x="6217920" y="1600200"/>
            <a:ext cx="2606040" cy="2926080"/>
          </a:xfrm>
          <a:prstGeom prst="roundRect">
            <a:avLst>
              <a:gd name="adj" fmla="val 2807"/>
            </a:avLst>
          </a:prstGeom>
          <a:solidFill>
            <a:srgbClr val="FFFFFF"/>
          </a:solidFill>
          <a:ln/>
          <a:effectLst>
            <a:outerShdw blurRad="101600" dist="38100" dir="5400000" algn="bl" rotWithShape="0">
              <a:srgbClr val="1F2A44">
                <a:alpha val="10000"/>
              </a:srgbClr>
            </a:outerShdw>
          </a:effectLst>
        </p:spPr>
      </p:sp>
      <p:sp>
        <p:nvSpPr>
          <p:cNvPr id="15" name="Shape 11"/>
          <p:cNvSpPr/>
          <p:nvPr/>
        </p:nvSpPr>
        <p:spPr>
          <a:xfrm>
            <a:off x="6400800" y="1783080"/>
            <a:ext cx="457200" cy="457200"/>
          </a:xfrm>
          <a:prstGeom prst="ellipse">
            <a:avLst/>
          </a:prstGeom>
          <a:solidFill>
            <a:srgbClr val="3B6EA5"/>
          </a:solidFill>
          <a:ln/>
        </p:spPr>
      </p:sp>
      <p:pic>
        <p:nvPicPr>
          <p:cNvPr id="16" name="Image 2" descr="preencoded.png"/>
          <p:cNvPicPr>
            <a:picLocks noChangeAspect="1"/>
          </p:cNvPicPr>
          <p:nvPr/>
        </p:nvPicPr>
        <p:blipFill>
          <a:blip r:embed="rId3"/>
          <a:stretch>
            <a:fillRect/>
          </a:stretch>
        </p:blipFill>
        <p:spPr>
          <a:xfrm>
            <a:off x="6519672" y="1901952"/>
            <a:ext cx="219456" cy="219456"/>
          </a:xfrm>
          <a:prstGeom prst="rect">
            <a:avLst/>
          </a:prstGeom>
        </p:spPr>
      </p:pic>
      <p:sp>
        <p:nvSpPr>
          <p:cNvPr id="17" name="Text 12"/>
          <p:cNvSpPr/>
          <p:nvPr/>
        </p:nvSpPr>
        <p:spPr>
          <a:xfrm>
            <a:off x="6400800" y="2377440"/>
            <a:ext cx="2240280" cy="502920"/>
          </a:xfrm>
          <a:prstGeom prst="rect">
            <a:avLst/>
          </a:prstGeom>
          <a:noFill/>
          <a:ln/>
        </p:spPr>
        <p:txBody>
          <a:bodyPr wrap="square" rtlCol="0" anchor="ctr"/>
          <a:lstStyle/>
          <a:p>
            <a:pPr marL="0" indent="0">
              <a:buNone/>
            </a:pPr>
            <a:r>
              <a:rPr lang="en-US" sz="1350" b="1" dirty="0">
                <a:solidFill>
                  <a:srgbClr val="1F2A44"/>
                </a:solidFill>
                <a:latin typeface="Calibri" pitchFamily="34" charset="0"/>
                <a:ea typeface="Calibri" pitchFamily="34" charset="-122"/>
                <a:cs typeface="Calibri" pitchFamily="34" charset="-120"/>
              </a:rPr>
              <a:t>Consider regional pricing</a:t>
            </a:r>
            <a:endParaRPr lang="en-US" sz="1350" dirty="0"/>
          </a:p>
        </p:txBody>
      </p:sp>
      <p:sp>
        <p:nvSpPr>
          <p:cNvPr id="18" name="Text 13"/>
          <p:cNvSpPr/>
          <p:nvPr/>
        </p:nvSpPr>
        <p:spPr>
          <a:xfrm>
            <a:off x="6400800" y="2880360"/>
            <a:ext cx="2240280" cy="1554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A/B testing shows order-value differences across some country pairs — worth a deeper regional pricing review.</a:t>
            </a:r>
            <a:endParaRPr lang="en-US" sz="1100" dirty="0"/>
          </a:p>
        </p:txBody>
      </p:sp>
      <p:sp>
        <p:nvSpPr>
          <p:cNvPr id="19" name="Shape 14"/>
          <p:cNvSpPr/>
          <p:nvPr/>
        </p:nvSpPr>
        <p:spPr>
          <a:xfrm>
            <a:off x="9052560" y="1600200"/>
            <a:ext cx="2606040" cy="2926080"/>
          </a:xfrm>
          <a:prstGeom prst="roundRect">
            <a:avLst>
              <a:gd name="adj" fmla="val 2807"/>
            </a:avLst>
          </a:prstGeom>
          <a:solidFill>
            <a:srgbClr val="FFFFFF"/>
          </a:solidFill>
          <a:ln/>
          <a:effectLst>
            <a:outerShdw blurRad="101600" dist="38100" dir="5400000" algn="bl" rotWithShape="0">
              <a:srgbClr val="1F2A44">
                <a:alpha val="10000"/>
              </a:srgbClr>
            </a:outerShdw>
          </a:effectLst>
        </p:spPr>
      </p:sp>
      <p:sp>
        <p:nvSpPr>
          <p:cNvPr id="20" name="Shape 15"/>
          <p:cNvSpPr/>
          <p:nvPr/>
        </p:nvSpPr>
        <p:spPr>
          <a:xfrm>
            <a:off x="9235440" y="1783080"/>
            <a:ext cx="457200" cy="457200"/>
          </a:xfrm>
          <a:prstGeom prst="ellipse">
            <a:avLst/>
          </a:prstGeom>
          <a:solidFill>
            <a:srgbClr val="2A9D8F"/>
          </a:solidFill>
          <a:ln/>
        </p:spPr>
      </p:sp>
      <p:pic>
        <p:nvPicPr>
          <p:cNvPr id="21" name="Image 3" descr="preencoded.png"/>
          <p:cNvPicPr>
            <a:picLocks noChangeAspect="1"/>
          </p:cNvPicPr>
          <p:nvPr/>
        </p:nvPicPr>
        <p:blipFill>
          <a:blip r:embed="rId3"/>
          <a:stretch>
            <a:fillRect/>
          </a:stretch>
        </p:blipFill>
        <p:spPr>
          <a:xfrm>
            <a:off x="9354312" y="1901952"/>
            <a:ext cx="219456" cy="219456"/>
          </a:xfrm>
          <a:prstGeom prst="rect">
            <a:avLst/>
          </a:prstGeom>
        </p:spPr>
      </p:pic>
      <p:sp>
        <p:nvSpPr>
          <p:cNvPr id="22" name="Text 16"/>
          <p:cNvSpPr/>
          <p:nvPr/>
        </p:nvSpPr>
        <p:spPr>
          <a:xfrm>
            <a:off x="9235440" y="2377440"/>
            <a:ext cx="2240280" cy="502920"/>
          </a:xfrm>
          <a:prstGeom prst="rect">
            <a:avLst/>
          </a:prstGeom>
          <a:noFill/>
          <a:ln/>
        </p:spPr>
        <p:txBody>
          <a:bodyPr wrap="square" rtlCol="0" anchor="ctr"/>
          <a:lstStyle/>
          <a:p>
            <a:pPr marL="0" indent="0">
              <a:buNone/>
            </a:pPr>
            <a:r>
              <a:rPr lang="en-US" sz="1350" b="1" dirty="0">
                <a:solidFill>
                  <a:srgbClr val="1F2A44"/>
                </a:solidFill>
                <a:latin typeface="Calibri" pitchFamily="34" charset="0"/>
                <a:ea typeface="Calibri" pitchFamily="34" charset="-122"/>
                <a:cs typeface="Calibri" pitchFamily="34" charset="-120"/>
              </a:rPr>
              <a:t>Explore a B2B tier</a:t>
            </a:r>
            <a:endParaRPr lang="en-US" sz="1350" dirty="0"/>
          </a:p>
        </p:txBody>
      </p:sp>
      <p:sp>
        <p:nvSpPr>
          <p:cNvPr id="23" name="Text 17"/>
          <p:cNvSpPr/>
          <p:nvPr/>
        </p:nvSpPr>
        <p:spPr>
          <a:xfrm>
            <a:off x="9235440" y="2880360"/>
            <a:ext cx="2240280" cy="155448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Bulk-quantity orders on specific SKUs suggest a wholesale/reseller segment distinct from typical retail buyers.</a:t>
            </a:r>
            <a:endParaRPr lang="en-US" sz="1100" dirty="0"/>
          </a:p>
        </p:txBody>
      </p:sp>
      <p:sp>
        <p:nvSpPr>
          <p:cNvPr id="24" name="Shape 18"/>
          <p:cNvSpPr/>
          <p:nvPr/>
        </p:nvSpPr>
        <p:spPr>
          <a:xfrm>
            <a:off x="548640" y="4754880"/>
            <a:ext cx="10835640" cy="1463040"/>
          </a:xfrm>
          <a:prstGeom prst="roundRect">
            <a:avLst>
              <a:gd name="adj" fmla="val 5000"/>
            </a:avLst>
          </a:prstGeom>
          <a:solidFill>
            <a:srgbClr val="1F2A44"/>
          </a:solidFill>
          <a:ln/>
        </p:spPr>
        <p:txBody>
          <a:bodyPr/>
          <a:lstStyle/>
          <a:p>
            <a:endParaRPr lang="en-IN" dirty="0"/>
          </a:p>
        </p:txBody>
      </p:sp>
      <p:sp>
        <p:nvSpPr>
          <p:cNvPr id="25" name="Shape 19"/>
          <p:cNvSpPr/>
          <p:nvPr/>
        </p:nvSpPr>
        <p:spPr>
          <a:xfrm>
            <a:off x="868680" y="5029200"/>
            <a:ext cx="594360" cy="594360"/>
          </a:xfrm>
          <a:prstGeom prst="ellipse">
            <a:avLst/>
          </a:prstGeom>
          <a:solidFill>
            <a:srgbClr val="2A9D8F"/>
          </a:solidFill>
          <a:ln/>
        </p:spPr>
      </p:sp>
      <p:pic>
        <p:nvPicPr>
          <p:cNvPr id="26" name="Image 4" descr="preencoded.png"/>
          <p:cNvPicPr>
            <a:picLocks noChangeAspect="1"/>
          </p:cNvPicPr>
          <p:nvPr/>
        </p:nvPicPr>
        <p:blipFill>
          <a:blip r:embed="rId4"/>
          <a:stretch>
            <a:fillRect/>
          </a:stretch>
        </p:blipFill>
        <p:spPr>
          <a:xfrm>
            <a:off x="1023214" y="5183734"/>
            <a:ext cx="285293" cy="285293"/>
          </a:xfrm>
          <a:prstGeom prst="rect">
            <a:avLst/>
          </a:prstGeom>
        </p:spPr>
      </p:pic>
      <p:sp>
        <p:nvSpPr>
          <p:cNvPr id="27" name="Text 20"/>
          <p:cNvSpPr/>
          <p:nvPr/>
        </p:nvSpPr>
        <p:spPr>
          <a:xfrm>
            <a:off x="1645920" y="4937760"/>
            <a:ext cx="45720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28" name="Text 21"/>
          <p:cNvSpPr/>
          <p:nvPr/>
        </p:nvSpPr>
        <p:spPr>
          <a:xfrm>
            <a:off x="1645920" y="5349240"/>
            <a:ext cx="6217920" cy="731520"/>
          </a:xfrm>
          <a:prstGeom prst="rect">
            <a:avLst/>
          </a:prstGeom>
          <a:noFill/>
          <a:ln/>
        </p:spPr>
        <p:txBody>
          <a:bodyPr wrap="square" rtlCol="0" anchor="ctr"/>
          <a:lstStyle/>
          <a:p>
            <a:pPr marL="0" indent="0">
              <a:buNone/>
            </a:pPr>
            <a:r>
              <a:rPr lang="en-US" sz="1250" i="1" dirty="0">
                <a:solidFill>
                  <a:srgbClr val="DCE6F5"/>
                </a:solidFill>
                <a:latin typeface="Calibri" pitchFamily="34" charset="0"/>
                <a:ea typeface="Calibri" pitchFamily="34" charset="-122"/>
                <a:cs typeface="Calibri" pitchFamily="34" charset="-120"/>
              </a:rPr>
              <a:t>Questions welcome — happy to walk through the live dashboard, notebooks, or any modeling choice in more depth.</a:t>
            </a:r>
            <a:endParaRPr lang="en-US" sz="1250" dirty="0"/>
          </a:p>
        </p:txBody>
      </p:sp>
      <p:sp>
        <p:nvSpPr>
          <p:cNvPr id="29" name="Text 22"/>
          <p:cNvSpPr/>
          <p:nvPr/>
        </p:nvSpPr>
        <p:spPr>
          <a:xfrm>
            <a:off x="8229600" y="5029200"/>
            <a:ext cx="3017520" cy="365760"/>
          </a:xfrm>
          <a:prstGeom prst="rect">
            <a:avLst/>
          </a:prstGeom>
          <a:noFill/>
          <a:ln/>
        </p:spPr>
        <p:txBody>
          <a:bodyPr wrap="square" rtlCol="0" anchor="ctr"/>
          <a:lstStyle/>
          <a:p>
            <a:pPr marL="0" indent="0" algn="r">
              <a:buNone/>
            </a:pPr>
            <a:r>
              <a:rPr lang="en-US" sz="1200" b="1" dirty="0">
                <a:solidFill>
                  <a:srgbClr val="2A9D8F"/>
                </a:solidFill>
                <a:latin typeface="Calibri" pitchFamily="34" charset="0"/>
                <a:ea typeface="Calibri" pitchFamily="34" charset="-122"/>
                <a:cs typeface="Calibri" pitchFamily="34" charset="-120"/>
              </a:rPr>
              <a:t>github.com/nidhi-yadav20799</a:t>
            </a:r>
            <a:endParaRPr lang="en-US" sz="1200" dirty="0"/>
          </a:p>
        </p:txBody>
      </p:sp>
      <p:sp>
        <p:nvSpPr>
          <p:cNvPr id="30" name="Text 23"/>
          <p:cNvSpPr/>
          <p:nvPr/>
        </p:nvSpPr>
        <p:spPr>
          <a:xfrm>
            <a:off x="8229600" y="5394960"/>
            <a:ext cx="3017520" cy="365760"/>
          </a:xfrm>
          <a:prstGeom prst="rect">
            <a:avLst/>
          </a:prstGeom>
          <a:noFill/>
          <a:ln/>
        </p:spPr>
        <p:txBody>
          <a:bodyPr wrap="square" rtlCol="0" anchor="ctr"/>
          <a:lstStyle/>
          <a:p>
            <a:pPr marL="0" indent="0" algn="r">
              <a:buNone/>
            </a:pPr>
            <a:r>
              <a:rPr lang="en-US" sz="1100" dirty="0" err="1">
                <a:solidFill>
                  <a:srgbClr val="B9C7DE"/>
                </a:solidFill>
                <a:latin typeface="Calibri" pitchFamily="34" charset="0"/>
                <a:ea typeface="Calibri" pitchFamily="34" charset="-122"/>
                <a:cs typeface="Calibri" pitchFamily="34" charset="-120"/>
              </a:rPr>
              <a:t>insightengine</a:t>
            </a:r>
            <a:r>
              <a:rPr lang="en-US" sz="1100" dirty="0">
                <a:solidFill>
                  <a:srgbClr val="B9C7DE"/>
                </a:solidFill>
                <a:latin typeface="Calibri" pitchFamily="34" charset="0"/>
                <a:ea typeface="Calibri" pitchFamily="34" charset="-122"/>
                <a:cs typeface="Calibri" pitchFamily="34" charset="-120"/>
              </a:rPr>
              <a:t>-customer-</a:t>
            </a:r>
            <a:r>
              <a:rPr lang="en-US" sz="1100" dirty="0" err="1">
                <a:solidFill>
                  <a:srgbClr val="B9C7DE"/>
                </a:solidFill>
                <a:latin typeface="Calibri" pitchFamily="34" charset="0"/>
                <a:ea typeface="Calibri" pitchFamily="34" charset="-122"/>
                <a:cs typeface="Calibri" pitchFamily="34" charset="-120"/>
              </a:rPr>
              <a:t>analytics.streamlit.app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1497</Words>
  <Application>Microsoft Office PowerPoint</Application>
  <PresentationFormat>Widescreen</PresentationFormat>
  <Paragraphs>138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InsightEngine - Customer Analytics Dashboard</dc:title>
  <dc:subject>PptxGenJS Presentation</dc:subject>
  <dc:creator>Nidhi Yadav</dc:creator>
  <cp:lastModifiedBy>nidhiyadav4495@gmail.com</cp:lastModifiedBy>
  <cp:revision>5</cp:revision>
  <dcterms:created xsi:type="dcterms:W3CDTF">2026-06-28T15:57:18Z</dcterms:created>
  <dcterms:modified xsi:type="dcterms:W3CDTF">2026-06-28T16:13:13Z</dcterms:modified>
</cp:coreProperties>
</file>